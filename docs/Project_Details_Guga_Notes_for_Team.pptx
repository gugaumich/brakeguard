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313" r:id="rId4"/>
    <p:sldId id="336" r:id="rId5"/>
    <p:sldId id="331" r:id="rId6"/>
    <p:sldId id="259" r:id="rId7"/>
    <p:sldId id="314" r:id="rId8"/>
    <p:sldId id="337" r:id="rId9"/>
    <p:sldId id="389" r:id="rId10"/>
    <p:sldId id="260" r:id="rId11"/>
    <p:sldId id="315" r:id="rId12"/>
    <p:sldId id="325" r:id="rId13"/>
    <p:sldId id="326" r:id="rId14"/>
    <p:sldId id="327" r:id="rId15"/>
    <p:sldId id="316" r:id="rId16"/>
    <p:sldId id="319" r:id="rId17"/>
    <p:sldId id="318" r:id="rId18"/>
    <p:sldId id="317" r:id="rId19"/>
    <p:sldId id="320" r:id="rId20"/>
    <p:sldId id="321" r:id="rId21"/>
    <p:sldId id="322" r:id="rId22"/>
    <p:sldId id="323" r:id="rId23"/>
    <p:sldId id="324" r:id="rId24"/>
    <p:sldId id="329" r:id="rId25"/>
    <p:sldId id="330" r:id="rId26"/>
    <p:sldId id="332" r:id="rId27"/>
    <p:sldId id="334" r:id="rId28"/>
    <p:sldId id="33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84B"/>
    <a:srgbClr val="FFCD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463F7C-68F5-4E20-B074-F984E09B43B0}" v="1" dt="2026-03-15T12:40:29.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99"/>
    <p:restoredTop sz="94694"/>
  </p:normalViewPr>
  <p:slideViewPr>
    <p:cSldViewPr snapToGrid="0">
      <p:cViewPr varScale="1">
        <p:scale>
          <a:sx n="105" d="100"/>
          <a:sy n="105" d="100"/>
        </p:scale>
        <p:origin x="102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ga Gugaratshan" userId="6cfda388-3fe9-4533-b511-2731e2a73b97" providerId="ADAL" clId="{F8C8443B-B8E5-4B25-9153-A630379CD1C7}"/>
    <pc:docChg chg="modSld">
      <pc:chgData name="Guga Gugaratshan" userId="6cfda388-3fe9-4533-b511-2731e2a73b97" providerId="ADAL" clId="{F8C8443B-B8E5-4B25-9153-A630379CD1C7}" dt="2026-03-15T12:40:29.163" v="0"/>
      <pc:docMkLst>
        <pc:docMk/>
      </pc:docMkLst>
      <pc:sldChg chg="addSp modSp">
        <pc:chgData name="Guga Gugaratshan" userId="6cfda388-3fe9-4533-b511-2731e2a73b97" providerId="ADAL" clId="{F8C8443B-B8E5-4B25-9153-A630379CD1C7}" dt="2026-03-15T12:40:29.163" v="0"/>
        <pc:sldMkLst>
          <pc:docMk/>
          <pc:sldMk cId="3458134608" sldId="337"/>
        </pc:sldMkLst>
        <pc:picChg chg="add mod">
          <ac:chgData name="Guga Gugaratshan" userId="6cfda388-3fe9-4533-b511-2731e2a73b97" providerId="ADAL" clId="{F8C8443B-B8E5-4B25-9153-A630379CD1C7}" dt="2026-03-15T12:40:29.163" v="0"/>
          <ac:picMkLst>
            <pc:docMk/>
            <pc:sldMk cId="3458134608" sldId="337"/>
            <ac:picMk id="3" creationId="{0A11F2CA-3DA9-0DB2-2926-A5F37E18DF4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AB6C53-009F-4D96-B4B5-56AD9490F77C}" type="doc">
      <dgm:prSet loTypeId="urn:microsoft.com/office/officeart/2005/8/layout/default" loCatId="list" qsTypeId="urn:microsoft.com/office/officeart/2005/8/quickstyle/simple2" qsCatId="simple" csTypeId="urn:microsoft.com/office/officeart/2005/8/colors/accent2_1" csCatId="accent2"/>
      <dgm:spPr/>
      <dgm:t>
        <a:bodyPr/>
        <a:lstStyle/>
        <a:p>
          <a:endParaRPr lang="en-US"/>
        </a:p>
      </dgm:t>
    </dgm:pt>
    <dgm:pt modelId="{3B1175B3-7C94-4EF6-8282-BBC1B2E25D49}">
      <dgm:prSet custT="1"/>
      <dgm:spPr/>
      <dgm:t>
        <a:bodyPr/>
        <a:lstStyle/>
        <a:p>
          <a:r>
            <a:rPr lang="en-US" sz="2000" dirty="0"/>
            <a:t>Phase 1 — Define the “schema unit” -set of signal names present in one CDF file</a:t>
          </a:r>
        </a:p>
      </dgm:t>
    </dgm:pt>
    <dgm:pt modelId="{A97E4599-67B2-4412-BE2C-95B908DB7730}" type="parTrans" cxnId="{9DA839A6-DED1-40A7-9758-2B5E3B8D3551}">
      <dgm:prSet/>
      <dgm:spPr/>
      <dgm:t>
        <a:bodyPr/>
        <a:lstStyle/>
        <a:p>
          <a:endParaRPr lang="en-US"/>
        </a:p>
      </dgm:t>
    </dgm:pt>
    <dgm:pt modelId="{EA0F3533-3718-4756-A649-6E03D10920A3}" type="sibTrans" cxnId="{9DA839A6-DED1-40A7-9758-2B5E3B8D3551}">
      <dgm:prSet/>
      <dgm:spPr/>
      <dgm:t>
        <a:bodyPr/>
        <a:lstStyle/>
        <a:p>
          <a:endParaRPr lang="en-US"/>
        </a:p>
      </dgm:t>
    </dgm:pt>
    <dgm:pt modelId="{2056D49A-9378-4B71-B56E-19672FF6403A}">
      <dgm:prSet custT="1"/>
      <dgm:spPr/>
      <dgm:t>
        <a:bodyPr/>
        <a:lstStyle/>
        <a:p>
          <a:r>
            <a:rPr lang="en-US" sz="2000"/>
            <a:t>Phase 2 — Establish a baseline schema per VIN</a:t>
          </a:r>
        </a:p>
      </dgm:t>
    </dgm:pt>
    <dgm:pt modelId="{3A7D4DA1-4A86-4282-AF9C-065AE21E4A40}" type="parTrans" cxnId="{48C0C0B9-6387-4018-A84B-67B5A8F2A3E9}">
      <dgm:prSet/>
      <dgm:spPr/>
      <dgm:t>
        <a:bodyPr/>
        <a:lstStyle/>
        <a:p>
          <a:endParaRPr lang="en-US"/>
        </a:p>
      </dgm:t>
    </dgm:pt>
    <dgm:pt modelId="{28F56D4B-F06B-45C9-87BA-79A2568062EA}" type="sibTrans" cxnId="{48C0C0B9-6387-4018-A84B-67B5A8F2A3E9}">
      <dgm:prSet/>
      <dgm:spPr/>
      <dgm:t>
        <a:bodyPr/>
        <a:lstStyle/>
        <a:p>
          <a:endParaRPr lang="en-US"/>
        </a:p>
      </dgm:t>
    </dgm:pt>
    <dgm:pt modelId="{A7F6126E-4236-4165-84D9-491BBB420B9F}">
      <dgm:prSet custT="1"/>
      <dgm:spPr/>
      <dgm:t>
        <a:bodyPr/>
        <a:lstStyle/>
        <a:p>
          <a:r>
            <a:rPr lang="en-US" sz="1200"/>
            <a:t>Collect all files for the vin</a:t>
          </a:r>
        </a:p>
      </dgm:t>
    </dgm:pt>
    <dgm:pt modelId="{7F50EBF7-C79D-41E2-9AB3-8881A37D94D4}" type="parTrans" cxnId="{ED5F3F33-C33F-492F-BEAB-4E149ED89BCC}">
      <dgm:prSet/>
      <dgm:spPr/>
      <dgm:t>
        <a:bodyPr/>
        <a:lstStyle/>
        <a:p>
          <a:endParaRPr lang="en-US"/>
        </a:p>
      </dgm:t>
    </dgm:pt>
    <dgm:pt modelId="{07DBF839-D2CA-4A90-82DF-3EF2591D16E3}" type="sibTrans" cxnId="{ED5F3F33-C33F-492F-BEAB-4E149ED89BCC}">
      <dgm:prSet/>
      <dgm:spPr/>
      <dgm:t>
        <a:bodyPr/>
        <a:lstStyle/>
        <a:p>
          <a:endParaRPr lang="en-US"/>
        </a:p>
      </dgm:t>
    </dgm:pt>
    <dgm:pt modelId="{435B5D29-B728-412D-AE54-8D54E695102B}">
      <dgm:prSet custT="1"/>
      <dgm:spPr/>
      <dgm:t>
        <a:bodyPr/>
        <a:lstStyle/>
        <a:p>
          <a:r>
            <a:rPr lang="en-US" sz="1200"/>
            <a:t>Baseline schema, earliest file, or most common</a:t>
          </a:r>
        </a:p>
      </dgm:t>
    </dgm:pt>
    <dgm:pt modelId="{EEC19C5B-88D9-4023-89B5-CA34960F9898}" type="parTrans" cxnId="{7F8053A3-2676-42E9-A371-F2FD40774F9B}">
      <dgm:prSet/>
      <dgm:spPr/>
      <dgm:t>
        <a:bodyPr/>
        <a:lstStyle/>
        <a:p>
          <a:endParaRPr lang="en-US"/>
        </a:p>
      </dgm:t>
    </dgm:pt>
    <dgm:pt modelId="{952E7F57-D061-4903-A5A3-AA87A657B629}" type="sibTrans" cxnId="{7F8053A3-2676-42E9-A371-F2FD40774F9B}">
      <dgm:prSet/>
      <dgm:spPr/>
      <dgm:t>
        <a:bodyPr/>
        <a:lstStyle/>
        <a:p>
          <a:endParaRPr lang="en-US"/>
        </a:p>
      </dgm:t>
    </dgm:pt>
    <dgm:pt modelId="{5A34123A-848F-40D0-A31A-8D7B91D4A795}">
      <dgm:prSet custT="1"/>
      <dgm:spPr/>
      <dgm:t>
        <a:bodyPr/>
        <a:lstStyle/>
        <a:p>
          <a:r>
            <a:rPr lang="en-US" sz="1800"/>
            <a:t>Phase 3 — Compare every file against the baseline (within VIN)</a:t>
          </a:r>
        </a:p>
      </dgm:t>
    </dgm:pt>
    <dgm:pt modelId="{E7620426-4E4A-4C53-9352-805715F1457D}" type="parTrans" cxnId="{6DA026FF-D1A6-4244-9F07-B9826AACB4DD}">
      <dgm:prSet/>
      <dgm:spPr/>
      <dgm:t>
        <a:bodyPr/>
        <a:lstStyle/>
        <a:p>
          <a:endParaRPr lang="en-US"/>
        </a:p>
      </dgm:t>
    </dgm:pt>
    <dgm:pt modelId="{A720CE0A-A36A-4988-B5CD-38E81E95C681}" type="sibTrans" cxnId="{6DA026FF-D1A6-4244-9F07-B9826AACB4DD}">
      <dgm:prSet/>
      <dgm:spPr/>
      <dgm:t>
        <a:bodyPr/>
        <a:lstStyle/>
        <a:p>
          <a:endParaRPr lang="en-US"/>
        </a:p>
      </dgm:t>
    </dgm:pt>
    <dgm:pt modelId="{D770AF43-8C6B-412E-B61C-EDD8E11FE1A1}">
      <dgm:prSet custT="1"/>
      <dgm:spPr/>
      <dgm:t>
        <a:bodyPr/>
        <a:lstStyle/>
        <a:p>
          <a:r>
            <a:rPr lang="en-US" sz="1100"/>
            <a:t>Missing signals: Signals present in the baseline but absent in this file</a:t>
          </a:r>
        </a:p>
      </dgm:t>
    </dgm:pt>
    <dgm:pt modelId="{CD7F198B-8C6C-464A-B0F8-D4324E08617D}" type="parTrans" cxnId="{50320828-3CB0-483F-A704-2689C3D5B65F}">
      <dgm:prSet/>
      <dgm:spPr/>
      <dgm:t>
        <a:bodyPr/>
        <a:lstStyle/>
        <a:p>
          <a:endParaRPr lang="en-US"/>
        </a:p>
      </dgm:t>
    </dgm:pt>
    <dgm:pt modelId="{11932189-8C99-498D-8BEE-AD0C53400934}" type="sibTrans" cxnId="{50320828-3CB0-483F-A704-2689C3D5B65F}">
      <dgm:prSet/>
      <dgm:spPr/>
      <dgm:t>
        <a:bodyPr/>
        <a:lstStyle/>
        <a:p>
          <a:endParaRPr lang="en-US"/>
        </a:p>
      </dgm:t>
    </dgm:pt>
    <dgm:pt modelId="{56131036-9961-4F42-9A64-B94E631C4353}">
      <dgm:prSet custT="1"/>
      <dgm:spPr/>
      <dgm:t>
        <a:bodyPr/>
        <a:lstStyle/>
        <a:p>
          <a:r>
            <a:rPr lang="en-US" sz="1100"/>
            <a:t>New signals: Signals not in baseline but present in this file</a:t>
          </a:r>
        </a:p>
      </dgm:t>
    </dgm:pt>
    <dgm:pt modelId="{54C33792-1372-4A74-A36B-D0CFE16055D5}" type="parTrans" cxnId="{BF77DD63-3ABF-444D-8D03-DF4882C8D0FD}">
      <dgm:prSet/>
      <dgm:spPr/>
      <dgm:t>
        <a:bodyPr/>
        <a:lstStyle/>
        <a:p>
          <a:endParaRPr lang="en-US"/>
        </a:p>
      </dgm:t>
    </dgm:pt>
    <dgm:pt modelId="{7912B485-2F7B-41D0-8D64-7F1C91D0B59C}" type="sibTrans" cxnId="{BF77DD63-3ABF-444D-8D03-DF4882C8D0FD}">
      <dgm:prSet/>
      <dgm:spPr/>
      <dgm:t>
        <a:bodyPr/>
        <a:lstStyle/>
        <a:p>
          <a:endParaRPr lang="en-US"/>
        </a:p>
      </dgm:t>
    </dgm:pt>
    <dgm:pt modelId="{449D11AB-21E5-497D-8D64-4A229DB37A17}">
      <dgm:prSet custT="1"/>
      <dgm:spPr/>
      <dgm:t>
        <a:bodyPr/>
        <a:lstStyle/>
        <a:p>
          <a:r>
            <a:rPr lang="en-US" sz="1100"/>
            <a:t>Unchanged signals:  Intersection</a:t>
          </a:r>
        </a:p>
      </dgm:t>
    </dgm:pt>
    <dgm:pt modelId="{D9A2F3B9-18B2-42A8-AD5A-6E1897E969FD}" type="parTrans" cxnId="{283A5EC1-9914-49F4-8948-B413797F511F}">
      <dgm:prSet/>
      <dgm:spPr/>
      <dgm:t>
        <a:bodyPr/>
        <a:lstStyle/>
        <a:p>
          <a:endParaRPr lang="en-US"/>
        </a:p>
      </dgm:t>
    </dgm:pt>
    <dgm:pt modelId="{40BEAAA7-F4F0-4759-B602-FEDA5BAEDB0A}" type="sibTrans" cxnId="{283A5EC1-9914-49F4-8948-B413797F511F}">
      <dgm:prSet/>
      <dgm:spPr/>
      <dgm:t>
        <a:bodyPr/>
        <a:lstStyle/>
        <a:p>
          <a:endParaRPr lang="en-US"/>
        </a:p>
      </dgm:t>
    </dgm:pt>
    <dgm:pt modelId="{BF8D8052-8E1D-4A00-B02B-E810949D6656}">
      <dgm:prSet custT="1"/>
      <dgm:spPr/>
      <dgm:t>
        <a:bodyPr/>
        <a:lstStyle/>
        <a:p>
          <a:r>
            <a:rPr lang="en-US" sz="1100"/>
            <a:t>“Are signal names the same across all files for the same VIN?”</a:t>
          </a:r>
        </a:p>
      </dgm:t>
    </dgm:pt>
    <dgm:pt modelId="{6E7B9AD5-D970-412B-8634-7A1884A4FDB7}" type="parTrans" cxnId="{7AD8328C-DBC2-451C-B685-F12FCF1A3B38}">
      <dgm:prSet/>
      <dgm:spPr/>
      <dgm:t>
        <a:bodyPr/>
        <a:lstStyle/>
        <a:p>
          <a:endParaRPr lang="en-US"/>
        </a:p>
      </dgm:t>
    </dgm:pt>
    <dgm:pt modelId="{41F16D9B-8997-4F38-9D29-8DD6D63CAFFC}" type="sibTrans" cxnId="{7AD8328C-DBC2-451C-B685-F12FCF1A3B38}">
      <dgm:prSet/>
      <dgm:spPr/>
      <dgm:t>
        <a:bodyPr/>
        <a:lstStyle/>
        <a:p>
          <a:endParaRPr lang="en-US"/>
        </a:p>
      </dgm:t>
    </dgm:pt>
    <dgm:pt modelId="{F1716244-83C1-4B8D-A58F-868BE4724A7D}">
      <dgm:prSet custT="1"/>
      <dgm:spPr/>
      <dgm:t>
        <a:bodyPr/>
        <a:lstStyle/>
        <a:p>
          <a:r>
            <a:rPr lang="en-US" sz="1400"/>
            <a:t>Phase 4 — Detect schema drift over time (within VIN) - Now add time awareness:</a:t>
          </a:r>
        </a:p>
      </dgm:t>
    </dgm:pt>
    <dgm:pt modelId="{C03537B4-4F84-4436-99D8-8A196E9AABE6}" type="parTrans" cxnId="{7C9D494A-94CC-4C9A-86F8-E911412CC0BE}">
      <dgm:prSet/>
      <dgm:spPr/>
      <dgm:t>
        <a:bodyPr/>
        <a:lstStyle/>
        <a:p>
          <a:endParaRPr lang="en-US"/>
        </a:p>
      </dgm:t>
    </dgm:pt>
    <dgm:pt modelId="{3AE982A6-F2FD-49E1-B75E-3CDD900E6669}" type="sibTrans" cxnId="{7C9D494A-94CC-4C9A-86F8-E911412CC0BE}">
      <dgm:prSet/>
      <dgm:spPr/>
      <dgm:t>
        <a:bodyPr/>
        <a:lstStyle/>
        <a:p>
          <a:endParaRPr lang="en-US"/>
        </a:p>
      </dgm:t>
    </dgm:pt>
    <dgm:pt modelId="{C1B408AC-BD7F-40C3-92E3-E3580BFBDFEA}">
      <dgm:prSet custT="1"/>
      <dgm:spPr/>
      <dgm:t>
        <a:bodyPr/>
        <a:lstStyle/>
        <a:p>
          <a:r>
            <a:rPr lang="en-US" sz="1000"/>
            <a:t>For each VIN,  Sort files by timestamp</a:t>
          </a:r>
        </a:p>
      </dgm:t>
    </dgm:pt>
    <dgm:pt modelId="{442FFF7C-399A-4A79-BC7F-852835BCB1FA}" type="parTrans" cxnId="{11EB26BC-C01B-4295-9AAA-9F09C2E8D8C6}">
      <dgm:prSet/>
      <dgm:spPr/>
      <dgm:t>
        <a:bodyPr/>
        <a:lstStyle/>
        <a:p>
          <a:endParaRPr lang="en-US"/>
        </a:p>
      </dgm:t>
    </dgm:pt>
    <dgm:pt modelId="{8306F4A6-740D-4E73-9969-AA68489954B1}" type="sibTrans" cxnId="{11EB26BC-C01B-4295-9AAA-9F09C2E8D8C6}">
      <dgm:prSet/>
      <dgm:spPr/>
      <dgm:t>
        <a:bodyPr/>
        <a:lstStyle/>
        <a:p>
          <a:endParaRPr lang="en-US"/>
        </a:p>
      </dgm:t>
    </dgm:pt>
    <dgm:pt modelId="{3921E9EF-60FA-4AFA-87FE-ED3A631A41FC}">
      <dgm:prSet custT="1"/>
      <dgm:spPr/>
      <dgm:t>
        <a:bodyPr/>
        <a:lstStyle/>
        <a:p>
          <a:r>
            <a:rPr lang="en-US" sz="1000"/>
            <a:t>Track when:</a:t>
          </a:r>
        </a:p>
      </dgm:t>
    </dgm:pt>
    <dgm:pt modelId="{8026BD8B-F76B-4468-A66A-AD1831DF21AE}" type="parTrans" cxnId="{541CCAD8-4441-499B-B2A3-880FDF1DBB7C}">
      <dgm:prSet/>
      <dgm:spPr/>
      <dgm:t>
        <a:bodyPr/>
        <a:lstStyle/>
        <a:p>
          <a:endParaRPr lang="en-US"/>
        </a:p>
      </dgm:t>
    </dgm:pt>
    <dgm:pt modelId="{176B9300-4BAD-41BB-BA82-86A051C36BDA}" type="sibTrans" cxnId="{541CCAD8-4441-499B-B2A3-880FDF1DBB7C}">
      <dgm:prSet/>
      <dgm:spPr/>
      <dgm:t>
        <a:bodyPr/>
        <a:lstStyle/>
        <a:p>
          <a:endParaRPr lang="en-US"/>
        </a:p>
      </dgm:t>
    </dgm:pt>
    <dgm:pt modelId="{D80E0501-F803-461F-8BD3-A557ADECF13F}">
      <dgm:prSet custT="1"/>
      <dgm:spPr/>
      <dgm:t>
        <a:bodyPr/>
        <a:lstStyle/>
        <a:p>
          <a:r>
            <a:rPr lang="en-US" sz="1000"/>
            <a:t>a signal first appears</a:t>
          </a:r>
        </a:p>
      </dgm:t>
    </dgm:pt>
    <dgm:pt modelId="{868330FE-1061-4632-AD3B-E00BE1C6E1BE}" type="parTrans" cxnId="{5C401244-7692-4866-B919-A46A056C6BD0}">
      <dgm:prSet/>
      <dgm:spPr/>
      <dgm:t>
        <a:bodyPr/>
        <a:lstStyle/>
        <a:p>
          <a:endParaRPr lang="en-US"/>
        </a:p>
      </dgm:t>
    </dgm:pt>
    <dgm:pt modelId="{B0BB5E3C-A898-4AE9-BC19-7F55C90AC579}" type="sibTrans" cxnId="{5C401244-7692-4866-B919-A46A056C6BD0}">
      <dgm:prSet/>
      <dgm:spPr/>
      <dgm:t>
        <a:bodyPr/>
        <a:lstStyle/>
        <a:p>
          <a:endParaRPr lang="en-US"/>
        </a:p>
      </dgm:t>
    </dgm:pt>
    <dgm:pt modelId="{FB76C8A3-E2FE-4FA7-9B2E-3D6E0F7E2508}">
      <dgm:prSet custT="1"/>
      <dgm:spPr/>
      <dgm:t>
        <a:bodyPr/>
        <a:lstStyle/>
        <a:p>
          <a:r>
            <a:rPr lang="en-US" sz="1000"/>
            <a:t>a signal disappears permanently</a:t>
          </a:r>
        </a:p>
      </dgm:t>
    </dgm:pt>
    <dgm:pt modelId="{CB7AC6B5-6163-4C04-9CCB-3969E8FA791F}" type="parTrans" cxnId="{8C8BE09C-5B05-4BED-AE05-CBAECA083FEE}">
      <dgm:prSet/>
      <dgm:spPr/>
      <dgm:t>
        <a:bodyPr/>
        <a:lstStyle/>
        <a:p>
          <a:endParaRPr lang="en-US"/>
        </a:p>
      </dgm:t>
    </dgm:pt>
    <dgm:pt modelId="{F0AA4F8C-6B05-47F9-A152-F8C549444FCE}" type="sibTrans" cxnId="{8C8BE09C-5B05-4BED-AE05-CBAECA083FEE}">
      <dgm:prSet/>
      <dgm:spPr/>
      <dgm:t>
        <a:bodyPr/>
        <a:lstStyle/>
        <a:p>
          <a:endParaRPr lang="en-US"/>
        </a:p>
      </dgm:t>
    </dgm:pt>
    <dgm:pt modelId="{57E6F203-0B3B-4355-9E32-CF2A6971421C}">
      <dgm:prSet custT="1"/>
      <dgm:spPr/>
      <dgm:t>
        <a:bodyPr/>
        <a:lstStyle/>
        <a:p>
          <a:r>
            <a:rPr lang="en-US" sz="1000"/>
            <a:t>a signal flaps (appears, disappears, reappears)</a:t>
          </a:r>
        </a:p>
      </dgm:t>
    </dgm:pt>
    <dgm:pt modelId="{7996AC74-8C12-4ADB-82DD-ADD30B96B4A8}" type="parTrans" cxnId="{5A426A90-228E-472D-877C-DAA4C4183ECD}">
      <dgm:prSet/>
      <dgm:spPr/>
      <dgm:t>
        <a:bodyPr/>
        <a:lstStyle/>
        <a:p>
          <a:endParaRPr lang="en-US"/>
        </a:p>
      </dgm:t>
    </dgm:pt>
    <dgm:pt modelId="{53EF2300-662F-4859-8BAA-D6AF41480AC3}" type="sibTrans" cxnId="{5A426A90-228E-472D-877C-DAA4C4183ECD}">
      <dgm:prSet/>
      <dgm:spPr/>
      <dgm:t>
        <a:bodyPr/>
        <a:lstStyle/>
        <a:p>
          <a:endParaRPr lang="en-US"/>
        </a:p>
      </dgm:t>
    </dgm:pt>
    <dgm:pt modelId="{BE588FF7-3401-47A4-B2EF-A750415EAACC}">
      <dgm:prSet custT="1"/>
      <dgm:spPr/>
      <dgm:t>
        <a:bodyPr/>
        <a:lstStyle/>
        <a:p>
          <a:r>
            <a:rPr lang="en-US" sz="1000"/>
            <a:t>This produces: drift timelines,  version boundaries, and change points</a:t>
          </a:r>
        </a:p>
      </dgm:t>
    </dgm:pt>
    <dgm:pt modelId="{6C506D5A-B1CB-4667-9CBE-E5614868B718}" type="parTrans" cxnId="{4E92D566-58DC-4B82-AFC6-1EEBB6B44415}">
      <dgm:prSet/>
      <dgm:spPr/>
      <dgm:t>
        <a:bodyPr/>
        <a:lstStyle/>
        <a:p>
          <a:endParaRPr lang="en-US"/>
        </a:p>
      </dgm:t>
    </dgm:pt>
    <dgm:pt modelId="{298986B9-32CF-45A3-AF01-74AA688A55FC}" type="sibTrans" cxnId="{4E92D566-58DC-4B82-AFC6-1EEBB6B44415}">
      <dgm:prSet/>
      <dgm:spPr/>
      <dgm:t>
        <a:bodyPr/>
        <a:lstStyle/>
        <a:p>
          <a:endParaRPr lang="en-US"/>
        </a:p>
      </dgm:t>
    </dgm:pt>
    <dgm:pt modelId="{9B46DB4C-D45C-4BE5-AA08-7246725D7D8D}">
      <dgm:prSet custT="1"/>
      <dgm:spPr/>
      <dgm:t>
        <a:bodyPr/>
        <a:lstStyle/>
        <a:p>
          <a:r>
            <a:rPr lang="en-US" sz="1000"/>
            <a:t>Build a VIN × signal × time presence matrix.</a:t>
          </a:r>
          <a:r>
            <a:rPr lang="en-US" sz="1000" b="1"/>
            <a:t> </a:t>
          </a:r>
          <a:endParaRPr lang="en-US" sz="1000"/>
        </a:p>
      </dgm:t>
    </dgm:pt>
    <dgm:pt modelId="{24DF847E-4531-455E-BAA3-381570D7BD6F}" type="parTrans" cxnId="{2CBE59BE-B87D-47D0-B2B0-D5C142EB5DA7}">
      <dgm:prSet/>
      <dgm:spPr/>
      <dgm:t>
        <a:bodyPr/>
        <a:lstStyle/>
        <a:p>
          <a:endParaRPr lang="en-US"/>
        </a:p>
      </dgm:t>
    </dgm:pt>
    <dgm:pt modelId="{2E299536-A9D9-4C5A-A54B-1AF5DE57CE5B}" type="sibTrans" cxnId="{2CBE59BE-B87D-47D0-B2B0-D5C142EB5DA7}">
      <dgm:prSet/>
      <dgm:spPr/>
      <dgm:t>
        <a:bodyPr/>
        <a:lstStyle/>
        <a:p>
          <a:endParaRPr lang="en-US"/>
        </a:p>
      </dgm:t>
    </dgm:pt>
    <dgm:pt modelId="{D400C69E-B964-4B58-BBF1-9A8C909E3586}">
      <dgm:prSet custT="1"/>
      <dgm:spPr/>
      <dgm:t>
        <a:bodyPr/>
        <a:lstStyle/>
        <a:p>
          <a:r>
            <a:rPr lang="en-US" sz="1000" dirty="0"/>
            <a:t>This is where domain knowledge comes in later — but your pipeline should surface the facts cleanly.</a:t>
          </a:r>
        </a:p>
      </dgm:t>
    </dgm:pt>
    <dgm:pt modelId="{4C154EB9-1B68-44CB-8718-78F63F327D69}" type="parTrans" cxnId="{FA0C5501-148E-4721-9A01-2E5E8C9C7CDC}">
      <dgm:prSet/>
      <dgm:spPr/>
      <dgm:t>
        <a:bodyPr/>
        <a:lstStyle/>
        <a:p>
          <a:endParaRPr lang="en-US"/>
        </a:p>
      </dgm:t>
    </dgm:pt>
    <dgm:pt modelId="{46322F41-E9B7-41AD-8C9E-616D1A61BF57}" type="sibTrans" cxnId="{FA0C5501-148E-4721-9A01-2E5E8C9C7CDC}">
      <dgm:prSet/>
      <dgm:spPr/>
      <dgm:t>
        <a:bodyPr/>
        <a:lstStyle/>
        <a:p>
          <a:endParaRPr lang="en-US"/>
        </a:p>
      </dgm:t>
    </dgm:pt>
    <dgm:pt modelId="{89523F08-8621-42AA-8CCE-EE67CD3476CB}">
      <dgm:prSet custT="1"/>
      <dgm:spPr/>
      <dgm:t>
        <a:bodyPr/>
        <a:lstStyle/>
        <a:p>
          <a:r>
            <a:rPr lang="en-US" sz="1600"/>
            <a:t>Phase 5 — Compare schemas across VINs</a:t>
          </a:r>
        </a:p>
      </dgm:t>
    </dgm:pt>
    <dgm:pt modelId="{69C56F09-B222-4233-B420-EE2161672564}" type="parTrans" cxnId="{7CC14025-1F6E-42C3-9428-734C184A0369}">
      <dgm:prSet/>
      <dgm:spPr/>
      <dgm:t>
        <a:bodyPr/>
        <a:lstStyle/>
        <a:p>
          <a:endParaRPr lang="en-US"/>
        </a:p>
      </dgm:t>
    </dgm:pt>
    <dgm:pt modelId="{AA594C8B-6121-4250-B7B6-4748BCDD85E7}" type="sibTrans" cxnId="{7CC14025-1F6E-42C3-9428-734C184A0369}">
      <dgm:prSet/>
      <dgm:spPr/>
      <dgm:t>
        <a:bodyPr/>
        <a:lstStyle/>
        <a:p>
          <a:endParaRPr lang="en-US"/>
        </a:p>
      </dgm:t>
    </dgm:pt>
    <dgm:pt modelId="{EB816CAC-1C8C-472E-B06C-F5E5771AA794}">
      <dgm:prSet custT="1"/>
      <dgm:spPr/>
      <dgm:t>
        <a:bodyPr/>
        <a:lstStyle/>
        <a:p>
          <a:r>
            <a:rPr lang="en-US" sz="1050" dirty="0"/>
            <a:t>Once each VIN is internally consistent (or characterized): We  compare </a:t>
          </a:r>
          <a:r>
            <a:rPr lang="en-US" sz="1050" b="0" i="0" dirty="0"/>
            <a:t>VIN-level schemas</a:t>
          </a:r>
          <a:r>
            <a:rPr lang="en-US" sz="1050" dirty="0"/>
            <a:t>,  VIN A vs VIN B,  common signals, VIN-specific signals</a:t>
          </a:r>
        </a:p>
      </dgm:t>
    </dgm:pt>
    <dgm:pt modelId="{E0C4DCE4-BABB-4873-A32F-444D42B6102F}" type="parTrans" cxnId="{3D87103D-C414-4AD1-82BD-39FDF19A6CC8}">
      <dgm:prSet/>
      <dgm:spPr/>
      <dgm:t>
        <a:bodyPr/>
        <a:lstStyle/>
        <a:p>
          <a:endParaRPr lang="en-US"/>
        </a:p>
      </dgm:t>
    </dgm:pt>
    <dgm:pt modelId="{28CEA567-A108-4D5A-A5C5-F1910BDEEF04}" type="sibTrans" cxnId="{3D87103D-C414-4AD1-82BD-39FDF19A6CC8}">
      <dgm:prSet/>
      <dgm:spPr/>
      <dgm:t>
        <a:bodyPr/>
        <a:lstStyle/>
        <a:p>
          <a:endParaRPr lang="en-US"/>
        </a:p>
      </dgm:t>
    </dgm:pt>
    <dgm:pt modelId="{09401A25-823E-45AC-B941-BC6C881DD4C9}">
      <dgm:prSet custT="1"/>
      <dgm:spPr/>
      <dgm:t>
        <a:bodyPr/>
        <a:lstStyle/>
        <a:p>
          <a:r>
            <a:rPr lang="en-US" sz="1050"/>
            <a:t>This answers: “Are different vehicles instrumented differently?”, We do this,  within same MODEL, within same GROUP, across years</a:t>
          </a:r>
        </a:p>
      </dgm:t>
    </dgm:pt>
    <dgm:pt modelId="{984DE96A-480A-4336-AEE5-918937FEC957}" type="parTrans" cxnId="{9083D55E-6EB3-491F-A097-FD6644AB68F3}">
      <dgm:prSet/>
      <dgm:spPr/>
      <dgm:t>
        <a:bodyPr/>
        <a:lstStyle/>
        <a:p>
          <a:endParaRPr lang="en-US"/>
        </a:p>
      </dgm:t>
    </dgm:pt>
    <dgm:pt modelId="{B9E927E5-C5D1-4C46-ABF6-3A6F13835B9B}" type="sibTrans" cxnId="{9083D55E-6EB3-491F-A097-FD6644AB68F3}">
      <dgm:prSet/>
      <dgm:spPr/>
      <dgm:t>
        <a:bodyPr/>
        <a:lstStyle/>
        <a:p>
          <a:endParaRPr lang="en-US"/>
        </a:p>
      </dgm:t>
    </dgm:pt>
    <dgm:pt modelId="{18082E7F-285F-413E-A222-A04F1EBA7F7B}">
      <dgm:prSet custT="1"/>
      <dgm:spPr/>
      <dgm:t>
        <a:bodyPr/>
        <a:lstStyle/>
        <a:p>
          <a:r>
            <a:rPr lang="en-US" sz="1400"/>
            <a:t>Phase 6 — Classify discrepancies (important for interpretation),  Not all differences are “errors”.</a:t>
          </a:r>
        </a:p>
      </dgm:t>
    </dgm:pt>
    <dgm:pt modelId="{CE33F3EB-2719-41EE-84E7-AA32665C249B}" type="parTrans" cxnId="{BABA8387-AD42-4A6D-BC82-73473A18E913}">
      <dgm:prSet/>
      <dgm:spPr/>
      <dgm:t>
        <a:bodyPr/>
        <a:lstStyle/>
        <a:p>
          <a:endParaRPr lang="en-US"/>
        </a:p>
      </dgm:t>
    </dgm:pt>
    <dgm:pt modelId="{5E8240BE-037B-40E6-82F3-3E5F716B2688}" type="sibTrans" cxnId="{BABA8387-AD42-4A6D-BC82-73473A18E913}">
      <dgm:prSet/>
      <dgm:spPr/>
      <dgm:t>
        <a:bodyPr/>
        <a:lstStyle/>
        <a:p>
          <a:endParaRPr lang="en-US"/>
        </a:p>
      </dgm:t>
    </dgm:pt>
    <dgm:pt modelId="{778AD504-4A89-4DA1-9AB4-58F7CC06C29D}">
      <dgm:prSet custT="1"/>
      <dgm:spPr/>
      <dgm:t>
        <a:bodyPr/>
        <a:lstStyle/>
        <a:p>
          <a:r>
            <a:rPr lang="en-US" sz="1000"/>
            <a:t>We can classify signal differences as:</a:t>
          </a:r>
        </a:p>
      </dgm:t>
    </dgm:pt>
    <dgm:pt modelId="{F45DB6FA-F939-4661-820B-DB2B9E412951}" type="parTrans" cxnId="{BE753C8C-7930-4C57-847B-2200BB07A7E3}">
      <dgm:prSet/>
      <dgm:spPr/>
      <dgm:t>
        <a:bodyPr/>
        <a:lstStyle/>
        <a:p>
          <a:endParaRPr lang="en-US"/>
        </a:p>
      </dgm:t>
    </dgm:pt>
    <dgm:pt modelId="{2A29242C-35EA-4D7F-BB8C-AEFE2FD446FE}" type="sibTrans" cxnId="{BE753C8C-7930-4C57-847B-2200BB07A7E3}">
      <dgm:prSet/>
      <dgm:spPr/>
      <dgm:t>
        <a:bodyPr/>
        <a:lstStyle/>
        <a:p>
          <a:endParaRPr lang="en-US"/>
        </a:p>
      </dgm:t>
    </dgm:pt>
    <dgm:pt modelId="{DB8805C6-536C-4D14-A455-BAC67E048AB5}">
      <dgm:prSet custT="1"/>
      <dgm:spPr/>
      <dgm:t>
        <a:bodyPr/>
        <a:lstStyle/>
        <a:p>
          <a:r>
            <a:rPr lang="en-US" sz="1000"/>
            <a:t>Expected differences</a:t>
          </a:r>
        </a:p>
      </dgm:t>
    </dgm:pt>
    <dgm:pt modelId="{A5352B5E-7630-4DCD-8B6D-E2EA12F6BBF2}" type="parTrans" cxnId="{BFAF2404-F66F-4EA7-BF14-2F640E7582E4}">
      <dgm:prSet/>
      <dgm:spPr/>
      <dgm:t>
        <a:bodyPr/>
        <a:lstStyle/>
        <a:p>
          <a:endParaRPr lang="en-US"/>
        </a:p>
      </dgm:t>
    </dgm:pt>
    <dgm:pt modelId="{48F61A8E-A364-410F-94DD-887D16AD82C6}" type="sibTrans" cxnId="{BFAF2404-F66F-4EA7-BF14-2F640E7582E4}">
      <dgm:prSet/>
      <dgm:spPr/>
      <dgm:t>
        <a:bodyPr/>
        <a:lstStyle/>
        <a:p>
          <a:endParaRPr lang="en-US"/>
        </a:p>
      </dgm:t>
    </dgm:pt>
    <dgm:pt modelId="{680AC708-F7A0-4980-91A9-75B5C8F1B8F3}">
      <dgm:prSet custT="1"/>
      <dgm:spPr/>
      <dgm:t>
        <a:bodyPr/>
        <a:lstStyle/>
        <a:p>
          <a:r>
            <a:rPr lang="en-US" sz="1000"/>
            <a:t>model-specific</a:t>
          </a:r>
        </a:p>
      </dgm:t>
    </dgm:pt>
    <dgm:pt modelId="{4693C6A0-F7C0-464A-AE5C-CBFC7C929532}" type="parTrans" cxnId="{62EFC45B-BE70-4C34-ADDD-1496F1C5FA13}">
      <dgm:prSet/>
      <dgm:spPr/>
      <dgm:t>
        <a:bodyPr/>
        <a:lstStyle/>
        <a:p>
          <a:endParaRPr lang="en-US"/>
        </a:p>
      </dgm:t>
    </dgm:pt>
    <dgm:pt modelId="{DAC1835A-173E-4556-97AA-B68DEDBF3D84}" type="sibTrans" cxnId="{62EFC45B-BE70-4C34-ADDD-1496F1C5FA13}">
      <dgm:prSet/>
      <dgm:spPr/>
      <dgm:t>
        <a:bodyPr/>
        <a:lstStyle/>
        <a:p>
          <a:endParaRPr lang="en-US"/>
        </a:p>
      </dgm:t>
    </dgm:pt>
    <dgm:pt modelId="{EF5AC542-D366-4DAB-B184-67EC2AA71211}">
      <dgm:prSet custT="1"/>
      <dgm:spPr/>
      <dgm:t>
        <a:bodyPr/>
        <a:lstStyle/>
        <a:p>
          <a:r>
            <a:rPr lang="en-US" sz="1000"/>
            <a:t>optional equipment</a:t>
          </a:r>
        </a:p>
      </dgm:t>
    </dgm:pt>
    <dgm:pt modelId="{FA175701-806E-4C72-B034-272D79164CDF}" type="parTrans" cxnId="{D3319D8F-61F5-4E4C-B41D-C64E02958995}">
      <dgm:prSet/>
      <dgm:spPr/>
      <dgm:t>
        <a:bodyPr/>
        <a:lstStyle/>
        <a:p>
          <a:endParaRPr lang="en-US"/>
        </a:p>
      </dgm:t>
    </dgm:pt>
    <dgm:pt modelId="{774C31C3-0EAD-4401-AF8D-4B4A73FC5A87}" type="sibTrans" cxnId="{D3319D8F-61F5-4E4C-B41D-C64E02958995}">
      <dgm:prSet/>
      <dgm:spPr/>
      <dgm:t>
        <a:bodyPr/>
        <a:lstStyle/>
        <a:p>
          <a:endParaRPr lang="en-US"/>
        </a:p>
      </dgm:t>
    </dgm:pt>
    <dgm:pt modelId="{5240F491-34A0-44D2-A0A6-CA76DE4CB9DA}">
      <dgm:prSet custT="1"/>
      <dgm:spPr/>
      <dgm:t>
        <a:bodyPr/>
        <a:lstStyle/>
        <a:p>
          <a:r>
            <a:rPr lang="en-US" sz="1000"/>
            <a:t>year-based upgrades</a:t>
          </a:r>
        </a:p>
      </dgm:t>
    </dgm:pt>
    <dgm:pt modelId="{16C97933-B4AF-4129-B408-2B68442644AC}" type="parTrans" cxnId="{2F3CF1C1-6509-46F8-BFD5-5AC0F9D0AD60}">
      <dgm:prSet/>
      <dgm:spPr/>
      <dgm:t>
        <a:bodyPr/>
        <a:lstStyle/>
        <a:p>
          <a:endParaRPr lang="en-US"/>
        </a:p>
      </dgm:t>
    </dgm:pt>
    <dgm:pt modelId="{E4648917-C2FF-4432-AE13-463C49DB7E69}" type="sibTrans" cxnId="{2F3CF1C1-6509-46F8-BFD5-5AC0F9D0AD60}">
      <dgm:prSet/>
      <dgm:spPr/>
      <dgm:t>
        <a:bodyPr/>
        <a:lstStyle/>
        <a:p>
          <a:endParaRPr lang="en-US"/>
        </a:p>
      </dgm:t>
    </dgm:pt>
    <dgm:pt modelId="{03A610DF-EFFA-4BA6-95E9-83CC107E994F}">
      <dgm:prSet custT="1"/>
      <dgm:spPr/>
      <dgm:t>
        <a:bodyPr/>
        <a:lstStyle/>
        <a:p>
          <a:r>
            <a:rPr lang="en-US" sz="1000" dirty="0"/>
            <a:t>Potential data quality issues</a:t>
          </a:r>
        </a:p>
      </dgm:t>
    </dgm:pt>
    <dgm:pt modelId="{D4187B5E-BB17-4894-9C3C-F3F8549B6402}" type="parTrans" cxnId="{EBE77465-5A35-4CE0-8530-1288DAC73BF4}">
      <dgm:prSet/>
      <dgm:spPr/>
      <dgm:t>
        <a:bodyPr/>
        <a:lstStyle/>
        <a:p>
          <a:endParaRPr lang="en-US"/>
        </a:p>
      </dgm:t>
    </dgm:pt>
    <dgm:pt modelId="{BECBBA21-F910-4481-9FB2-964D060A9D12}" type="sibTrans" cxnId="{EBE77465-5A35-4CE0-8530-1288DAC73BF4}">
      <dgm:prSet/>
      <dgm:spPr/>
      <dgm:t>
        <a:bodyPr/>
        <a:lstStyle/>
        <a:p>
          <a:endParaRPr lang="en-US"/>
        </a:p>
      </dgm:t>
    </dgm:pt>
    <dgm:pt modelId="{5F5B8CFE-9F96-4F04-B2E4-141A195D599F}">
      <dgm:prSet custT="1"/>
      <dgm:spPr/>
      <dgm:t>
        <a:bodyPr/>
        <a:lstStyle/>
        <a:p>
          <a:r>
            <a:rPr lang="en-US" sz="1000"/>
            <a:t>missing signals mid-life</a:t>
          </a:r>
        </a:p>
      </dgm:t>
    </dgm:pt>
    <dgm:pt modelId="{A9F41D31-11D1-40ED-B10E-537AA3928095}" type="parTrans" cxnId="{75210B30-0298-4CD8-9247-6A0712A58DA9}">
      <dgm:prSet/>
      <dgm:spPr/>
      <dgm:t>
        <a:bodyPr/>
        <a:lstStyle/>
        <a:p>
          <a:endParaRPr lang="en-US"/>
        </a:p>
      </dgm:t>
    </dgm:pt>
    <dgm:pt modelId="{132AEE8E-E4AB-4E34-A1EB-77AB4816B0B7}" type="sibTrans" cxnId="{75210B30-0298-4CD8-9247-6A0712A58DA9}">
      <dgm:prSet/>
      <dgm:spPr/>
      <dgm:t>
        <a:bodyPr/>
        <a:lstStyle/>
        <a:p>
          <a:endParaRPr lang="en-US"/>
        </a:p>
      </dgm:t>
    </dgm:pt>
    <dgm:pt modelId="{EE8E7183-983C-4F7D-ABED-515F54BD7313}">
      <dgm:prSet custT="1"/>
      <dgm:spPr/>
      <dgm:t>
        <a:bodyPr/>
        <a:lstStyle/>
        <a:p>
          <a:r>
            <a:rPr lang="en-US" sz="1000"/>
            <a:t>unexpected renaming</a:t>
          </a:r>
        </a:p>
      </dgm:t>
    </dgm:pt>
    <dgm:pt modelId="{F2A65BF7-78BB-4796-BD31-A957C4DC86D7}" type="parTrans" cxnId="{144D74EF-C971-447B-A88F-5E73B8F546DC}">
      <dgm:prSet/>
      <dgm:spPr/>
      <dgm:t>
        <a:bodyPr/>
        <a:lstStyle/>
        <a:p>
          <a:endParaRPr lang="en-US"/>
        </a:p>
      </dgm:t>
    </dgm:pt>
    <dgm:pt modelId="{06502D86-1C79-4769-9DCC-11E05E66E481}" type="sibTrans" cxnId="{144D74EF-C971-447B-A88F-5E73B8F546DC}">
      <dgm:prSet/>
      <dgm:spPr/>
      <dgm:t>
        <a:bodyPr/>
        <a:lstStyle/>
        <a:p>
          <a:endParaRPr lang="en-US"/>
        </a:p>
      </dgm:t>
    </dgm:pt>
    <dgm:pt modelId="{090E393D-FDBF-4F3E-A8FE-8DBDB7275E55}">
      <dgm:prSet custT="1"/>
      <dgm:spPr/>
      <dgm:t>
        <a:bodyPr/>
        <a:lstStyle/>
        <a:p>
          <a:r>
            <a:rPr lang="en-US" sz="1000"/>
            <a:t>inconsistent availability </a:t>
          </a:r>
        </a:p>
      </dgm:t>
    </dgm:pt>
    <dgm:pt modelId="{9FA57C9F-A7CD-43C1-8DBF-6F07B8D58F58}" type="parTrans" cxnId="{F9E9367C-6909-4E0D-9D92-AACAF57D08F4}">
      <dgm:prSet/>
      <dgm:spPr/>
      <dgm:t>
        <a:bodyPr/>
        <a:lstStyle/>
        <a:p>
          <a:endParaRPr lang="en-US"/>
        </a:p>
      </dgm:t>
    </dgm:pt>
    <dgm:pt modelId="{C9731C27-2B18-4010-A47F-F9895F90C4E7}" type="sibTrans" cxnId="{F9E9367C-6909-4E0D-9D92-AACAF57D08F4}">
      <dgm:prSet/>
      <dgm:spPr/>
      <dgm:t>
        <a:bodyPr/>
        <a:lstStyle/>
        <a:p>
          <a:endParaRPr lang="en-US"/>
        </a:p>
      </dgm:t>
    </dgm:pt>
    <dgm:pt modelId="{BFFD7FC1-8AE2-463C-AD1A-FA5C97351184}" type="pres">
      <dgm:prSet presAssocID="{D4AB6C53-009F-4D96-B4B5-56AD9490F77C}" presName="diagram" presStyleCnt="0">
        <dgm:presLayoutVars>
          <dgm:dir/>
          <dgm:resizeHandles val="exact"/>
        </dgm:presLayoutVars>
      </dgm:prSet>
      <dgm:spPr/>
    </dgm:pt>
    <dgm:pt modelId="{3D96CA6A-1985-4939-A816-85DD89B8DE3C}" type="pres">
      <dgm:prSet presAssocID="{3B1175B3-7C94-4EF6-8282-BBC1B2E25D49}" presName="node" presStyleLbl="node1" presStyleIdx="0" presStyleCnt="6">
        <dgm:presLayoutVars>
          <dgm:bulletEnabled val="1"/>
        </dgm:presLayoutVars>
      </dgm:prSet>
      <dgm:spPr/>
    </dgm:pt>
    <dgm:pt modelId="{B94A578E-663E-4B53-9EEA-33FC846EA975}" type="pres">
      <dgm:prSet presAssocID="{EA0F3533-3718-4756-A649-6E03D10920A3}" presName="sibTrans" presStyleCnt="0"/>
      <dgm:spPr/>
    </dgm:pt>
    <dgm:pt modelId="{08A4485C-FE68-4E85-8319-8DB1A7DD7BE4}" type="pres">
      <dgm:prSet presAssocID="{2056D49A-9378-4B71-B56E-19672FF6403A}" presName="node" presStyleLbl="node1" presStyleIdx="1" presStyleCnt="6">
        <dgm:presLayoutVars>
          <dgm:bulletEnabled val="1"/>
        </dgm:presLayoutVars>
      </dgm:prSet>
      <dgm:spPr/>
    </dgm:pt>
    <dgm:pt modelId="{D02CC7AA-78C9-43F2-A1DD-3D0363D8EBAE}" type="pres">
      <dgm:prSet presAssocID="{28F56D4B-F06B-45C9-87BA-79A2568062EA}" presName="sibTrans" presStyleCnt="0"/>
      <dgm:spPr/>
    </dgm:pt>
    <dgm:pt modelId="{1C907054-2BB4-44E9-B006-E6B015F1A7B2}" type="pres">
      <dgm:prSet presAssocID="{5A34123A-848F-40D0-A31A-8D7B91D4A795}" presName="node" presStyleLbl="node1" presStyleIdx="2" presStyleCnt="6">
        <dgm:presLayoutVars>
          <dgm:bulletEnabled val="1"/>
        </dgm:presLayoutVars>
      </dgm:prSet>
      <dgm:spPr/>
    </dgm:pt>
    <dgm:pt modelId="{440E84F9-F5D0-44CB-A168-630233D0352C}" type="pres">
      <dgm:prSet presAssocID="{A720CE0A-A36A-4988-B5CD-38E81E95C681}" presName="sibTrans" presStyleCnt="0"/>
      <dgm:spPr/>
    </dgm:pt>
    <dgm:pt modelId="{77429880-4A9A-41CE-A51B-F0BC2D9BD8F8}" type="pres">
      <dgm:prSet presAssocID="{F1716244-83C1-4B8D-A58F-868BE4724A7D}" presName="node" presStyleLbl="node1" presStyleIdx="3" presStyleCnt="6">
        <dgm:presLayoutVars>
          <dgm:bulletEnabled val="1"/>
        </dgm:presLayoutVars>
      </dgm:prSet>
      <dgm:spPr/>
    </dgm:pt>
    <dgm:pt modelId="{E8CD183F-EB73-43C6-898C-D8989AAB869D}" type="pres">
      <dgm:prSet presAssocID="{3AE982A6-F2FD-49E1-B75E-3CDD900E6669}" presName="sibTrans" presStyleCnt="0"/>
      <dgm:spPr/>
    </dgm:pt>
    <dgm:pt modelId="{82931CC0-CF94-4A78-9416-3ABAAED6B755}" type="pres">
      <dgm:prSet presAssocID="{89523F08-8621-42AA-8CCE-EE67CD3476CB}" presName="node" presStyleLbl="node1" presStyleIdx="4" presStyleCnt="6">
        <dgm:presLayoutVars>
          <dgm:bulletEnabled val="1"/>
        </dgm:presLayoutVars>
      </dgm:prSet>
      <dgm:spPr/>
    </dgm:pt>
    <dgm:pt modelId="{0464AA84-74B9-4057-A89C-4DC81C6DFCAB}" type="pres">
      <dgm:prSet presAssocID="{AA594C8B-6121-4250-B7B6-4748BCDD85E7}" presName="sibTrans" presStyleCnt="0"/>
      <dgm:spPr/>
    </dgm:pt>
    <dgm:pt modelId="{288591A9-DF0E-45C3-8BDD-8781609053DE}" type="pres">
      <dgm:prSet presAssocID="{18082E7F-285F-413E-A222-A04F1EBA7F7B}" presName="node" presStyleLbl="node1" presStyleIdx="5" presStyleCnt="6">
        <dgm:presLayoutVars>
          <dgm:bulletEnabled val="1"/>
        </dgm:presLayoutVars>
      </dgm:prSet>
      <dgm:spPr/>
    </dgm:pt>
  </dgm:ptLst>
  <dgm:cxnLst>
    <dgm:cxn modelId="{FA0C5501-148E-4721-9A01-2E5E8C9C7CDC}" srcId="{9B46DB4C-D45C-4BE5-AA08-7246725D7D8D}" destId="{D400C69E-B964-4B58-BBF1-9A8C909E3586}" srcOrd="0" destOrd="0" parTransId="{4C154EB9-1B68-44CB-8718-78F63F327D69}" sibTransId="{46322F41-E9B7-41AD-8C9E-616D1A61BF57}"/>
    <dgm:cxn modelId="{DC524C02-CD36-4E67-8311-303A731DF5E8}" type="presOf" srcId="{EB816CAC-1C8C-472E-B06C-F5E5771AA794}" destId="{82931CC0-CF94-4A78-9416-3ABAAED6B755}" srcOrd="0" destOrd="1" presId="urn:microsoft.com/office/officeart/2005/8/layout/default"/>
    <dgm:cxn modelId="{BFAF2404-F66F-4EA7-BF14-2F640E7582E4}" srcId="{778AD504-4A89-4DA1-9AB4-58F7CC06C29D}" destId="{DB8805C6-536C-4D14-A455-BAC67E048AB5}" srcOrd="0" destOrd="0" parTransId="{A5352B5E-7630-4DCD-8B6D-E2EA12F6BBF2}" sibTransId="{48F61A8E-A364-410F-94DD-887D16AD82C6}"/>
    <dgm:cxn modelId="{4AA66315-32D5-483E-8142-4D7F82E3C373}" type="presOf" srcId="{18082E7F-285F-413E-A222-A04F1EBA7F7B}" destId="{288591A9-DF0E-45C3-8BDD-8781609053DE}" srcOrd="0" destOrd="0" presId="urn:microsoft.com/office/officeart/2005/8/layout/default"/>
    <dgm:cxn modelId="{DAB61D18-2FC9-4734-8176-8FB058F216BA}" type="presOf" srcId="{EE8E7183-983C-4F7D-ABED-515F54BD7313}" destId="{288591A9-DF0E-45C3-8BDD-8781609053DE}" srcOrd="0" destOrd="8" presId="urn:microsoft.com/office/officeart/2005/8/layout/default"/>
    <dgm:cxn modelId="{049E911B-36DC-47C5-9E3C-39455DADC257}" type="presOf" srcId="{3B1175B3-7C94-4EF6-8282-BBC1B2E25D49}" destId="{3D96CA6A-1985-4939-A816-85DD89B8DE3C}" srcOrd="0" destOrd="0" presId="urn:microsoft.com/office/officeart/2005/8/layout/default"/>
    <dgm:cxn modelId="{7CC14025-1F6E-42C3-9428-734C184A0369}" srcId="{D4AB6C53-009F-4D96-B4B5-56AD9490F77C}" destId="{89523F08-8621-42AA-8CCE-EE67CD3476CB}" srcOrd="4" destOrd="0" parTransId="{69C56F09-B222-4233-B420-EE2161672564}" sibTransId="{AA594C8B-6121-4250-B7B6-4748BCDD85E7}"/>
    <dgm:cxn modelId="{5A3C1227-EC39-4A3E-A8E8-95DF2F378A9D}" type="presOf" srcId="{449D11AB-21E5-497D-8D64-4A229DB37A17}" destId="{1C907054-2BB4-44E9-B006-E6B015F1A7B2}" srcOrd="0" destOrd="3" presId="urn:microsoft.com/office/officeart/2005/8/layout/default"/>
    <dgm:cxn modelId="{50320828-3CB0-483F-A704-2689C3D5B65F}" srcId="{5A34123A-848F-40D0-A31A-8D7B91D4A795}" destId="{D770AF43-8C6B-412E-B61C-EDD8E11FE1A1}" srcOrd="0" destOrd="0" parTransId="{CD7F198B-8C6C-464A-B0F8-D4324E08617D}" sibTransId="{11932189-8C99-498D-8BEE-AD0C53400934}"/>
    <dgm:cxn modelId="{C68F362B-71CD-4812-B121-79860016CCCF}" type="presOf" srcId="{89523F08-8621-42AA-8CCE-EE67CD3476CB}" destId="{82931CC0-CF94-4A78-9416-3ABAAED6B755}" srcOrd="0" destOrd="0" presId="urn:microsoft.com/office/officeart/2005/8/layout/default"/>
    <dgm:cxn modelId="{6BC6822D-6853-4F3E-87A3-AC9DD873A56F}" type="presOf" srcId="{2056D49A-9378-4B71-B56E-19672FF6403A}" destId="{08A4485C-FE68-4E85-8319-8DB1A7DD7BE4}" srcOrd="0" destOrd="0" presId="urn:microsoft.com/office/officeart/2005/8/layout/default"/>
    <dgm:cxn modelId="{75210B30-0298-4CD8-9247-6A0712A58DA9}" srcId="{03A610DF-EFFA-4BA6-95E9-83CC107E994F}" destId="{5F5B8CFE-9F96-4F04-B2E4-141A195D599F}" srcOrd="0" destOrd="0" parTransId="{A9F41D31-11D1-40ED-B10E-537AA3928095}" sibTransId="{132AEE8E-E4AB-4E34-A1EB-77AB4816B0B7}"/>
    <dgm:cxn modelId="{ED5F3F33-C33F-492F-BEAB-4E149ED89BCC}" srcId="{2056D49A-9378-4B71-B56E-19672FF6403A}" destId="{A7F6126E-4236-4165-84D9-491BBB420B9F}" srcOrd="0" destOrd="0" parTransId="{7F50EBF7-C79D-41E2-9AB3-8881A37D94D4}" sibTransId="{07DBF839-D2CA-4A90-82DF-3EF2591D16E3}"/>
    <dgm:cxn modelId="{3D87103D-C414-4AD1-82BD-39FDF19A6CC8}" srcId="{89523F08-8621-42AA-8CCE-EE67CD3476CB}" destId="{EB816CAC-1C8C-472E-B06C-F5E5771AA794}" srcOrd="0" destOrd="0" parTransId="{E0C4DCE4-BABB-4873-A32F-444D42B6102F}" sibTransId="{28CEA567-A108-4D5A-A5C5-F1910BDEEF04}"/>
    <dgm:cxn modelId="{62EFC45B-BE70-4C34-ADDD-1496F1C5FA13}" srcId="{DB8805C6-536C-4D14-A455-BAC67E048AB5}" destId="{680AC708-F7A0-4980-91A9-75B5C8F1B8F3}" srcOrd="0" destOrd="0" parTransId="{4693C6A0-F7C0-464A-AE5C-CBFC7C929532}" sibTransId="{DAC1835A-173E-4556-97AA-B68DEDBF3D84}"/>
    <dgm:cxn modelId="{9B700F5D-4277-4FAE-AE09-CC6FF73C349C}" type="presOf" srcId="{D4AB6C53-009F-4D96-B4B5-56AD9490F77C}" destId="{BFFD7FC1-8AE2-463C-AD1A-FA5C97351184}" srcOrd="0" destOrd="0" presId="urn:microsoft.com/office/officeart/2005/8/layout/default"/>
    <dgm:cxn modelId="{9083D55E-6EB3-491F-A097-FD6644AB68F3}" srcId="{89523F08-8621-42AA-8CCE-EE67CD3476CB}" destId="{09401A25-823E-45AC-B941-BC6C881DD4C9}" srcOrd="1" destOrd="0" parTransId="{984DE96A-480A-4336-AEE5-918937FEC957}" sibTransId="{B9E927E5-C5D1-4C46-ABF6-3A6F13835B9B}"/>
    <dgm:cxn modelId="{2CF16D63-F19E-491F-A6FF-DB786AAAC77D}" type="presOf" srcId="{9B46DB4C-D45C-4BE5-AA08-7246725D7D8D}" destId="{77429880-4A9A-41CE-A51B-F0BC2D9BD8F8}" srcOrd="0" destOrd="7" presId="urn:microsoft.com/office/officeart/2005/8/layout/default"/>
    <dgm:cxn modelId="{E47BD943-CC15-4DAA-B249-81D0955B269D}" type="presOf" srcId="{BE588FF7-3401-47A4-B2EF-A750415EAACC}" destId="{77429880-4A9A-41CE-A51B-F0BC2D9BD8F8}" srcOrd="0" destOrd="6" presId="urn:microsoft.com/office/officeart/2005/8/layout/default"/>
    <dgm:cxn modelId="{BF77DD63-3ABF-444D-8D03-DF4882C8D0FD}" srcId="{5A34123A-848F-40D0-A31A-8D7B91D4A795}" destId="{56131036-9961-4F42-9A64-B94E631C4353}" srcOrd="1" destOrd="0" parTransId="{54C33792-1372-4A74-A36B-D0CFE16055D5}" sibTransId="{7912B485-2F7B-41D0-8D64-7F1C91D0B59C}"/>
    <dgm:cxn modelId="{5C401244-7692-4866-B919-A46A056C6BD0}" srcId="{3921E9EF-60FA-4AFA-87FE-ED3A631A41FC}" destId="{D80E0501-F803-461F-8BD3-A557ADECF13F}" srcOrd="0" destOrd="0" parTransId="{868330FE-1061-4632-AD3B-E00BE1C6E1BE}" sibTransId="{B0BB5E3C-A898-4AE9-BC19-7F55C90AC579}"/>
    <dgm:cxn modelId="{EBE77465-5A35-4CE0-8530-1288DAC73BF4}" srcId="{778AD504-4A89-4DA1-9AB4-58F7CC06C29D}" destId="{03A610DF-EFFA-4BA6-95E9-83CC107E994F}" srcOrd="1" destOrd="0" parTransId="{D4187B5E-BB17-4894-9C3C-F3F8549B6402}" sibTransId="{BECBBA21-F910-4481-9FB2-964D060A9D12}"/>
    <dgm:cxn modelId="{AF6BE265-BB19-40AB-8C24-7A58EA2F36C5}" type="presOf" srcId="{5240F491-34A0-44D2-A0A6-CA76DE4CB9DA}" destId="{288591A9-DF0E-45C3-8BDD-8781609053DE}" srcOrd="0" destOrd="5" presId="urn:microsoft.com/office/officeart/2005/8/layout/default"/>
    <dgm:cxn modelId="{4E92D566-58DC-4B82-AFC6-1EEBB6B44415}" srcId="{F1716244-83C1-4B8D-A58F-868BE4724A7D}" destId="{BE588FF7-3401-47A4-B2EF-A750415EAACC}" srcOrd="2" destOrd="0" parTransId="{6C506D5A-B1CB-4667-9CBE-E5614868B718}" sibTransId="{298986B9-32CF-45A3-AF01-74AA688A55FC}"/>
    <dgm:cxn modelId="{B5679B48-10FF-4476-9FEF-071713810569}" type="presOf" srcId="{C1B408AC-BD7F-40C3-92E3-E3580BFBDFEA}" destId="{77429880-4A9A-41CE-A51B-F0BC2D9BD8F8}" srcOrd="0" destOrd="1" presId="urn:microsoft.com/office/officeart/2005/8/layout/default"/>
    <dgm:cxn modelId="{DA3EAF48-5645-49F0-A2C5-47E13BAF16DA}" type="presOf" srcId="{A7F6126E-4236-4165-84D9-491BBB420B9F}" destId="{08A4485C-FE68-4E85-8319-8DB1A7DD7BE4}" srcOrd="0" destOrd="1" presId="urn:microsoft.com/office/officeart/2005/8/layout/default"/>
    <dgm:cxn modelId="{7C9D494A-94CC-4C9A-86F8-E911412CC0BE}" srcId="{D4AB6C53-009F-4D96-B4B5-56AD9490F77C}" destId="{F1716244-83C1-4B8D-A58F-868BE4724A7D}" srcOrd="3" destOrd="0" parTransId="{C03537B4-4F84-4436-99D8-8A196E9AABE6}" sibTransId="{3AE982A6-F2FD-49E1-B75E-3CDD900E6669}"/>
    <dgm:cxn modelId="{6E3AEA6C-E59B-4CF9-8909-0685EBC2DCA3}" type="presOf" srcId="{680AC708-F7A0-4980-91A9-75B5C8F1B8F3}" destId="{288591A9-DF0E-45C3-8BDD-8781609053DE}" srcOrd="0" destOrd="3" presId="urn:microsoft.com/office/officeart/2005/8/layout/default"/>
    <dgm:cxn modelId="{F9E9367C-6909-4E0D-9D92-AACAF57D08F4}" srcId="{03A610DF-EFFA-4BA6-95E9-83CC107E994F}" destId="{090E393D-FDBF-4F3E-A8FE-8DBDB7275E55}" srcOrd="2" destOrd="0" parTransId="{9FA57C9F-A7CD-43C1-8DBF-6F07B8D58F58}" sibTransId="{C9731C27-2B18-4010-A47F-F9895F90C4E7}"/>
    <dgm:cxn modelId="{BE4A4180-0D36-4C88-BF29-242C07D3E2E8}" type="presOf" srcId="{FB76C8A3-E2FE-4FA7-9B2E-3D6E0F7E2508}" destId="{77429880-4A9A-41CE-A51B-F0BC2D9BD8F8}" srcOrd="0" destOrd="4" presId="urn:microsoft.com/office/officeart/2005/8/layout/default"/>
    <dgm:cxn modelId="{64AEB680-9420-4B91-935E-401870820F8A}" type="presOf" srcId="{F1716244-83C1-4B8D-A58F-868BE4724A7D}" destId="{77429880-4A9A-41CE-A51B-F0BC2D9BD8F8}" srcOrd="0" destOrd="0" presId="urn:microsoft.com/office/officeart/2005/8/layout/default"/>
    <dgm:cxn modelId="{C5421183-E6CA-4AFD-A75D-1D39AE311CD8}" type="presOf" srcId="{D400C69E-B964-4B58-BBF1-9A8C909E3586}" destId="{77429880-4A9A-41CE-A51B-F0BC2D9BD8F8}" srcOrd="0" destOrd="8" presId="urn:microsoft.com/office/officeart/2005/8/layout/default"/>
    <dgm:cxn modelId="{BABA8387-AD42-4A6D-BC82-73473A18E913}" srcId="{D4AB6C53-009F-4D96-B4B5-56AD9490F77C}" destId="{18082E7F-285F-413E-A222-A04F1EBA7F7B}" srcOrd="5" destOrd="0" parTransId="{CE33F3EB-2719-41EE-84E7-AA32665C249B}" sibTransId="{5E8240BE-037B-40E6-82F3-3E5F716B2688}"/>
    <dgm:cxn modelId="{7AD8328C-DBC2-451C-B685-F12FCF1A3B38}" srcId="{5A34123A-848F-40D0-A31A-8D7B91D4A795}" destId="{BF8D8052-8E1D-4A00-B02B-E810949D6656}" srcOrd="3" destOrd="0" parTransId="{6E7B9AD5-D970-412B-8634-7A1884A4FDB7}" sibTransId="{41F16D9B-8997-4F38-9D29-8DD6D63CAFFC}"/>
    <dgm:cxn modelId="{BE753C8C-7930-4C57-847B-2200BB07A7E3}" srcId="{18082E7F-285F-413E-A222-A04F1EBA7F7B}" destId="{778AD504-4A89-4DA1-9AB4-58F7CC06C29D}" srcOrd="0" destOrd="0" parTransId="{F45DB6FA-F939-4661-820B-DB2B9E412951}" sibTransId="{2A29242C-35EA-4D7F-BB8C-AEFE2FD446FE}"/>
    <dgm:cxn modelId="{4CD90F8E-C91F-4A1D-B1E0-E2667BDE531E}" type="presOf" srcId="{778AD504-4A89-4DA1-9AB4-58F7CC06C29D}" destId="{288591A9-DF0E-45C3-8BDD-8781609053DE}" srcOrd="0" destOrd="1" presId="urn:microsoft.com/office/officeart/2005/8/layout/default"/>
    <dgm:cxn modelId="{D3319D8F-61F5-4E4C-B41D-C64E02958995}" srcId="{DB8805C6-536C-4D14-A455-BAC67E048AB5}" destId="{EF5AC542-D366-4DAB-B184-67EC2AA71211}" srcOrd="1" destOrd="0" parTransId="{FA175701-806E-4C72-B034-272D79164CDF}" sibTransId="{774C31C3-0EAD-4401-AF8D-4B4A73FC5A87}"/>
    <dgm:cxn modelId="{5A426A90-228E-472D-877C-DAA4C4183ECD}" srcId="{3921E9EF-60FA-4AFA-87FE-ED3A631A41FC}" destId="{57E6F203-0B3B-4355-9E32-CF2A6971421C}" srcOrd="2" destOrd="0" parTransId="{7996AC74-8C12-4ADB-82DD-ADD30B96B4A8}" sibTransId="{53EF2300-662F-4859-8BAA-D6AF41480AC3}"/>
    <dgm:cxn modelId="{1B2BC791-5DCA-46F3-9901-68618D4D0AF5}" type="presOf" srcId="{435B5D29-B728-412D-AE54-8D54E695102B}" destId="{08A4485C-FE68-4E85-8319-8DB1A7DD7BE4}" srcOrd="0" destOrd="2" presId="urn:microsoft.com/office/officeart/2005/8/layout/default"/>
    <dgm:cxn modelId="{8C8BE09C-5B05-4BED-AE05-CBAECA083FEE}" srcId="{3921E9EF-60FA-4AFA-87FE-ED3A631A41FC}" destId="{FB76C8A3-E2FE-4FA7-9B2E-3D6E0F7E2508}" srcOrd="1" destOrd="0" parTransId="{CB7AC6B5-6163-4C04-9CCB-3969E8FA791F}" sibTransId="{F0AA4F8C-6B05-47F9-A152-F8C549444FCE}"/>
    <dgm:cxn modelId="{6AAE2CA1-9E91-4F49-BB99-266CEC4169F5}" type="presOf" srcId="{DB8805C6-536C-4D14-A455-BAC67E048AB5}" destId="{288591A9-DF0E-45C3-8BDD-8781609053DE}" srcOrd="0" destOrd="2" presId="urn:microsoft.com/office/officeart/2005/8/layout/default"/>
    <dgm:cxn modelId="{7F8053A3-2676-42E9-A371-F2FD40774F9B}" srcId="{2056D49A-9378-4B71-B56E-19672FF6403A}" destId="{435B5D29-B728-412D-AE54-8D54E695102B}" srcOrd="1" destOrd="0" parTransId="{EEC19C5B-88D9-4023-89B5-CA34960F9898}" sibTransId="{952E7F57-D061-4903-A5A3-AA87A657B629}"/>
    <dgm:cxn modelId="{9DA839A6-DED1-40A7-9758-2B5E3B8D3551}" srcId="{D4AB6C53-009F-4D96-B4B5-56AD9490F77C}" destId="{3B1175B3-7C94-4EF6-8282-BBC1B2E25D49}" srcOrd="0" destOrd="0" parTransId="{A97E4599-67B2-4412-BE2C-95B908DB7730}" sibTransId="{EA0F3533-3718-4756-A649-6E03D10920A3}"/>
    <dgm:cxn modelId="{CDDD18A8-928D-445C-870B-69284D739BE2}" type="presOf" srcId="{090E393D-FDBF-4F3E-A8FE-8DBDB7275E55}" destId="{288591A9-DF0E-45C3-8BDD-8781609053DE}" srcOrd="0" destOrd="9" presId="urn:microsoft.com/office/officeart/2005/8/layout/default"/>
    <dgm:cxn modelId="{07B0D0AE-7D19-439E-A886-3610194D976C}" type="presOf" srcId="{57E6F203-0B3B-4355-9E32-CF2A6971421C}" destId="{77429880-4A9A-41CE-A51B-F0BC2D9BD8F8}" srcOrd="0" destOrd="5" presId="urn:microsoft.com/office/officeart/2005/8/layout/default"/>
    <dgm:cxn modelId="{1264A8B2-805A-4F09-9788-431ACC5FC385}" type="presOf" srcId="{56131036-9961-4F42-9A64-B94E631C4353}" destId="{1C907054-2BB4-44E9-B006-E6B015F1A7B2}" srcOrd="0" destOrd="2" presId="urn:microsoft.com/office/officeart/2005/8/layout/default"/>
    <dgm:cxn modelId="{48C0C0B9-6387-4018-A84B-67B5A8F2A3E9}" srcId="{D4AB6C53-009F-4D96-B4B5-56AD9490F77C}" destId="{2056D49A-9378-4B71-B56E-19672FF6403A}" srcOrd="1" destOrd="0" parTransId="{3A7D4DA1-4A86-4282-AF9C-065AE21E4A40}" sibTransId="{28F56D4B-F06B-45C9-87BA-79A2568062EA}"/>
    <dgm:cxn modelId="{D0E5E9B9-0D11-4813-88DB-AB8D27E653B3}" type="presOf" srcId="{09401A25-823E-45AC-B941-BC6C881DD4C9}" destId="{82931CC0-CF94-4A78-9416-3ABAAED6B755}" srcOrd="0" destOrd="2" presId="urn:microsoft.com/office/officeart/2005/8/layout/default"/>
    <dgm:cxn modelId="{11EB26BC-C01B-4295-9AAA-9F09C2E8D8C6}" srcId="{F1716244-83C1-4B8D-A58F-868BE4724A7D}" destId="{C1B408AC-BD7F-40C3-92E3-E3580BFBDFEA}" srcOrd="0" destOrd="0" parTransId="{442FFF7C-399A-4A79-BC7F-852835BCB1FA}" sibTransId="{8306F4A6-740D-4E73-9969-AA68489954B1}"/>
    <dgm:cxn modelId="{2CBE59BE-B87D-47D0-B2B0-D5C142EB5DA7}" srcId="{F1716244-83C1-4B8D-A58F-868BE4724A7D}" destId="{9B46DB4C-D45C-4BE5-AA08-7246725D7D8D}" srcOrd="3" destOrd="0" parTransId="{24DF847E-4531-455E-BAA3-381570D7BD6F}" sibTransId="{2E299536-A9D9-4C5A-A54B-1AF5DE57CE5B}"/>
    <dgm:cxn modelId="{283A5EC1-9914-49F4-8948-B413797F511F}" srcId="{5A34123A-848F-40D0-A31A-8D7B91D4A795}" destId="{449D11AB-21E5-497D-8D64-4A229DB37A17}" srcOrd="2" destOrd="0" parTransId="{D9A2F3B9-18B2-42A8-AD5A-6E1897E969FD}" sibTransId="{40BEAAA7-F4F0-4759-B602-FEDA5BAEDB0A}"/>
    <dgm:cxn modelId="{2F3CF1C1-6509-46F8-BFD5-5AC0F9D0AD60}" srcId="{DB8805C6-536C-4D14-A455-BAC67E048AB5}" destId="{5240F491-34A0-44D2-A0A6-CA76DE4CB9DA}" srcOrd="2" destOrd="0" parTransId="{16C97933-B4AF-4129-B408-2B68442644AC}" sibTransId="{E4648917-C2FF-4432-AE13-463C49DB7E69}"/>
    <dgm:cxn modelId="{4C3568C4-41A6-474C-9463-D1F5A540E578}" type="presOf" srcId="{D770AF43-8C6B-412E-B61C-EDD8E11FE1A1}" destId="{1C907054-2BB4-44E9-B006-E6B015F1A7B2}" srcOrd="0" destOrd="1" presId="urn:microsoft.com/office/officeart/2005/8/layout/default"/>
    <dgm:cxn modelId="{9D55ABC7-F92C-423E-B635-DB2A2C1DB2AA}" type="presOf" srcId="{3921E9EF-60FA-4AFA-87FE-ED3A631A41FC}" destId="{77429880-4A9A-41CE-A51B-F0BC2D9BD8F8}" srcOrd="0" destOrd="2" presId="urn:microsoft.com/office/officeart/2005/8/layout/default"/>
    <dgm:cxn modelId="{CA2B08C9-9AB2-4CB9-97D0-E51D5B8F7200}" type="presOf" srcId="{BF8D8052-8E1D-4A00-B02B-E810949D6656}" destId="{1C907054-2BB4-44E9-B006-E6B015F1A7B2}" srcOrd="0" destOrd="4" presId="urn:microsoft.com/office/officeart/2005/8/layout/default"/>
    <dgm:cxn modelId="{541CCAD8-4441-499B-B2A3-880FDF1DBB7C}" srcId="{F1716244-83C1-4B8D-A58F-868BE4724A7D}" destId="{3921E9EF-60FA-4AFA-87FE-ED3A631A41FC}" srcOrd="1" destOrd="0" parTransId="{8026BD8B-F76B-4468-A66A-AD1831DF21AE}" sibTransId="{176B9300-4BAD-41BB-BA82-86A051C36BDA}"/>
    <dgm:cxn modelId="{B2738FDF-8C8D-4DCB-B3A3-2F3CFF39FEBA}" type="presOf" srcId="{EF5AC542-D366-4DAB-B184-67EC2AA71211}" destId="{288591A9-DF0E-45C3-8BDD-8781609053DE}" srcOrd="0" destOrd="4" presId="urn:microsoft.com/office/officeart/2005/8/layout/default"/>
    <dgm:cxn modelId="{036293EA-AF91-4764-8949-0F4F310F717B}" type="presOf" srcId="{03A610DF-EFFA-4BA6-95E9-83CC107E994F}" destId="{288591A9-DF0E-45C3-8BDD-8781609053DE}" srcOrd="0" destOrd="6" presId="urn:microsoft.com/office/officeart/2005/8/layout/default"/>
    <dgm:cxn modelId="{144D74EF-C971-447B-A88F-5E73B8F546DC}" srcId="{03A610DF-EFFA-4BA6-95E9-83CC107E994F}" destId="{EE8E7183-983C-4F7D-ABED-515F54BD7313}" srcOrd="1" destOrd="0" parTransId="{F2A65BF7-78BB-4796-BD31-A957C4DC86D7}" sibTransId="{06502D86-1C79-4769-9DCC-11E05E66E481}"/>
    <dgm:cxn modelId="{045B7BF9-9987-4EBD-A0E8-F5FF4DF3EAD8}" type="presOf" srcId="{5A34123A-848F-40D0-A31A-8D7B91D4A795}" destId="{1C907054-2BB4-44E9-B006-E6B015F1A7B2}" srcOrd="0" destOrd="0" presId="urn:microsoft.com/office/officeart/2005/8/layout/default"/>
    <dgm:cxn modelId="{7B9368FB-586E-428F-992A-EA27B1786A0E}" type="presOf" srcId="{D80E0501-F803-461F-8BD3-A557ADECF13F}" destId="{77429880-4A9A-41CE-A51B-F0BC2D9BD8F8}" srcOrd="0" destOrd="3" presId="urn:microsoft.com/office/officeart/2005/8/layout/default"/>
    <dgm:cxn modelId="{5A65CAFC-97FD-46F5-B41A-547146E42651}" type="presOf" srcId="{5F5B8CFE-9F96-4F04-B2E4-141A195D599F}" destId="{288591A9-DF0E-45C3-8BDD-8781609053DE}" srcOrd="0" destOrd="7" presId="urn:microsoft.com/office/officeart/2005/8/layout/default"/>
    <dgm:cxn modelId="{6DA026FF-D1A6-4244-9F07-B9826AACB4DD}" srcId="{D4AB6C53-009F-4D96-B4B5-56AD9490F77C}" destId="{5A34123A-848F-40D0-A31A-8D7B91D4A795}" srcOrd="2" destOrd="0" parTransId="{E7620426-4E4A-4C53-9352-805715F1457D}" sibTransId="{A720CE0A-A36A-4988-B5CD-38E81E95C681}"/>
    <dgm:cxn modelId="{C143B7B2-941D-4CD3-A0E8-79879F713B3D}" type="presParOf" srcId="{BFFD7FC1-8AE2-463C-AD1A-FA5C97351184}" destId="{3D96CA6A-1985-4939-A816-85DD89B8DE3C}" srcOrd="0" destOrd="0" presId="urn:microsoft.com/office/officeart/2005/8/layout/default"/>
    <dgm:cxn modelId="{7395E83B-6341-4E84-A6E3-2E94EE072FF5}" type="presParOf" srcId="{BFFD7FC1-8AE2-463C-AD1A-FA5C97351184}" destId="{B94A578E-663E-4B53-9EEA-33FC846EA975}" srcOrd="1" destOrd="0" presId="urn:microsoft.com/office/officeart/2005/8/layout/default"/>
    <dgm:cxn modelId="{DCFC471B-2420-4765-8E04-F3365386A127}" type="presParOf" srcId="{BFFD7FC1-8AE2-463C-AD1A-FA5C97351184}" destId="{08A4485C-FE68-4E85-8319-8DB1A7DD7BE4}" srcOrd="2" destOrd="0" presId="urn:microsoft.com/office/officeart/2005/8/layout/default"/>
    <dgm:cxn modelId="{E8C35238-B184-4438-838B-F804130155C7}" type="presParOf" srcId="{BFFD7FC1-8AE2-463C-AD1A-FA5C97351184}" destId="{D02CC7AA-78C9-43F2-A1DD-3D0363D8EBAE}" srcOrd="3" destOrd="0" presId="urn:microsoft.com/office/officeart/2005/8/layout/default"/>
    <dgm:cxn modelId="{16FCD86E-C0EF-4B0A-99EC-50A54AF45CDA}" type="presParOf" srcId="{BFFD7FC1-8AE2-463C-AD1A-FA5C97351184}" destId="{1C907054-2BB4-44E9-B006-E6B015F1A7B2}" srcOrd="4" destOrd="0" presId="urn:microsoft.com/office/officeart/2005/8/layout/default"/>
    <dgm:cxn modelId="{0A8F8C0B-8C69-4E15-93FF-625CD787ABBF}" type="presParOf" srcId="{BFFD7FC1-8AE2-463C-AD1A-FA5C97351184}" destId="{440E84F9-F5D0-44CB-A168-630233D0352C}" srcOrd="5" destOrd="0" presId="urn:microsoft.com/office/officeart/2005/8/layout/default"/>
    <dgm:cxn modelId="{999D9198-E38B-4CF9-8024-DC38DDCE28F1}" type="presParOf" srcId="{BFFD7FC1-8AE2-463C-AD1A-FA5C97351184}" destId="{77429880-4A9A-41CE-A51B-F0BC2D9BD8F8}" srcOrd="6" destOrd="0" presId="urn:microsoft.com/office/officeart/2005/8/layout/default"/>
    <dgm:cxn modelId="{FE330F6A-D38D-4C4C-9BE8-7B9168B803DF}" type="presParOf" srcId="{BFFD7FC1-8AE2-463C-AD1A-FA5C97351184}" destId="{E8CD183F-EB73-43C6-898C-D8989AAB869D}" srcOrd="7" destOrd="0" presId="urn:microsoft.com/office/officeart/2005/8/layout/default"/>
    <dgm:cxn modelId="{C28BF3F5-B65C-4C0B-AEB1-6FEDD660D189}" type="presParOf" srcId="{BFFD7FC1-8AE2-463C-AD1A-FA5C97351184}" destId="{82931CC0-CF94-4A78-9416-3ABAAED6B755}" srcOrd="8" destOrd="0" presId="urn:microsoft.com/office/officeart/2005/8/layout/default"/>
    <dgm:cxn modelId="{5067DE63-8B34-44C4-8735-FCAF4C747D1D}" type="presParOf" srcId="{BFFD7FC1-8AE2-463C-AD1A-FA5C97351184}" destId="{0464AA84-74B9-4057-A89C-4DC81C6DFCAB}" srcOrd="9" destOrd="0" presId="urn:microsoft.com/office/officeart/2005/8/layout/default"/>
    <dgm:cxn modelId="{32CE1743-75F7-4E90-9C1A-121401743CB2}" type="presParOf" srcId="{BFFD7FC1-8AE2-463C-AD1A-FA5C97351184}" destId="{288591A9-DF0E-45C3-8BDD-8781609053DE}"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96CA6A-1985-4939-A816-85DD89B8DE3C}">
      <dsp:nvSpPr>
        <dsp:cNvPr id="0" name=""/>
        <dsp:cNvSpPr/>
      </dsp:nvSpPr>
      <dsp:spPr>
        <a:xfrm>
          <a:off x="0" y="264794"/>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Phase 1 — Define the “schema unit” -set of signal names present in one CDF file</a:t>
          </a:r>
        </a:p>
      </dsp:txBody>
      <dsp:txXfrm>
        <a:off x="0" y="264794"/>
        <a:ext cx="3467099" cy="2080260"/>
      </dsp:txXfrm>
    </dsp:sp>
    <dsp:sp modelId="{08A4485C-FE68-4E85-8319-8DB1A7DD7BE4}">
      <dsp:nvSpPr>
        <dsp:cNvPr id="0" name=""/>
        <dsp:cNvSpPr/>
      </dsp:nvSpPr>
      <dsp:spPr>
        <a:xfrm>
          <a:off x="3813810" y="264794"/>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Phase 2 — Establish a baseline schema per VIN</a:t>
          </a:r>
        </a:p>
        <a:p>
          <a:pPr marL="114300" lvl="1" indent="-114300" algn="l" defTabSz="533400">
            <a:lnSpc>
              <a:spcPct val="90000"/>
            </a:lnSpc>
            <a:spcBef>
              <a:spcPct val="0"/>
            </a:spcBef>
            <a:spcAft>
              <a:spcPct val="15000"/>
            </a:spcAft>
            <a:buChar char="•"/>
          </a:pPr>
          <a:r>
            <a:rPr lang="en-US" sz="1200" kern="1200"/>
            <a:t>Collect all files for the vin</a:t>
          </a:r>
        </a:p>
        <a:p>
          <a:pPr marL="114300" lvl="1" indent="-114300" algn="l" defTabSz="533400">
            <a:lnSpc>
              <a:spcPct val="90000"/>
            </a:lnSpc>
            <a:spcBef>
              <a:spcPct val="0"/>
            </a:spcBef>
            <a:spcAft>
              <a:spcPct val="15000"/>
            </a:spcAft>
            <a:buChar char="•"/>
          </a:pPr>
          <a:r>
            <a:rPr lang="en-US" sz="1200" kern="1200"/>
            <a:t>Baseline schema, earliest file, or most common</a:t>
          </a:r>
        </a:p>
      </dsp:txBody>
      <dsp:txXfrm>
        <a:off x="3813810" y="264794"/>
        <a:ext cx="3467099" cy="2080260"/>
      </dsp:txXfrm>
    </dsp:sp>
    <dsp:sp modelId="{1C907054-2BB4-44E9-B006-E6B015F1A7B2}">
      <dsp:nvSpPr>
        <dsp:cNvPr id="0" name=""/>
        <dsp:cNvSpPr/>
      </dsp:nvSpPr>
      <dsp:spPr>
        <a:xfrm>
          <a:off x="7627619" y="264794"/>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Phase 3 — Compare every file against the baseline (within VIN)</a:t>
          </a:r>
        </a:p>
        <a:p>
          <a:pPr marL="57150" lvl="1" indent="-57150" algn="l" defTabSz="488950">
            <a:lnSpc>
              <a:spcPct val="90000"/>
            </a:lnSpc>
            <a:spcBef>
              <a:spcPct val="0"/>
            </a:spcBef>
            <a:spcAft>
              <a:spcPct val="15000"/>
            </a:spcAft>
            <a:buChar char="•"/>
          </a:pPr>
          <a:r>
            <a:rPr lang="en-US" sz="1100" kern="1200"/>
            <a:t>Missing signals: Signals present in the baseline but absent in this file</a:t>
          </a:r>
        </a:p>
        <a:p>
          <a:pPr marL="57150" lvl="1" indent="-57150" algn="l" defTabSz="488950">
            <a:lnSpc>
              <a:spcPct val="90000"/>
            </a:lnSpc>
            <a:spcBef>
              <a:spcPct val="0"/>
            </a:spcBef>
            <a:spcAft>
              <a:spcPct val="15000"/>
            </a:spcAft>
            <a:buChar char="•"/>
          </a:pPr>
          <a:r>
            <a:rPr lang="en-US" sz="1100" kern="1200"/>
            <a:t>New signals: Signals not in baseline but present in this file</a:t>
          </a:r>
        </a:p>
        <a:p>
          <a:pPr marL="57150" lvl="1" indent="-57150" algn="l" defTabSz="488950">
            <a:lnSpc>
              <a:spcPct val="90000"/>
            </a:lnSpc>
            <a:spcBef>
              <a:spcPct val="0"/>
            </a:spcBef>
            <a:spcAft>
              <a:spcPct val="15000"/>
            </a:spcAft>
            <a:buChar char="•"/>
          </a:pPr>
          <a:r>
            <a:rPr lang="en-US" sz="1100" kern="1200"/>
            <a:t>Unchanged signals:  Intersection</a:t>
          </a:r>
        </a:p>
        <a:p>
          <a:pPr marL="57150" lvl="1" indent="-57150" algn="l" defTabSz="488950">
            <a:lnSpc>
              <a:spcPct val="90000"/>
            </a:lnSpc>
            <a:spcBef>
              <a:spcPct val="0"/>
            </a:spcBef>
            <a:spcAft>
              <a:spcPct val="15000"/>
            </a:spcAft>
            <a:buChar char="•"/>
          </a:pPr>
          <a:r>
            <a:rPr lang="en-US" sz="1100" kern="1200"/>
            <a:t>“Are signal names the same across all files for the same VIN?”</a:t>
          </a:r>
        </a:p>
      </dsp:txBody>
      <dsp:txXfrm>
        <a:off x="7627619" y="264794"/>
        <a:ext cx="3467099" cy="2080260"/>
      </dsp:txXfrm>
    </dsp:sp>
    <dsp:sp modelId="{77429880-4A9A-41CE-A51B-F0BC2D9BD8F8}">
      <dsp:nvSpPr>
        <dsp:cNvPr id="0" name=""/>
        <dsp:cNvSpPr/>
      </dsp:nvSpPr>
      <dsp:spPr>
        <a:xfrm>
          <a:off x="0" y="2691765"/>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Phase 4 — Detect schema drift over time (within VIN) - Now add time awareness:</a:t>
          </a:r>
        </a:p>
        <a:p>
          <a:pPr marL="57150" lvl="1" indent="-57150" algn="l" defTabSz="444500">
            <a:lnSpc>
              <a:spcPct val="90000"/>
            </a:lnSpc>
            <a:spcBef>
              <a:spcPct val="0"/>
            </a:spcBef>
            <a:spcAft>
              <a:spcPct val="15000"/>
            </a:spcAft>
            <a:buChar char="•"/>
          </a:pPr>
          <a:r>
            <a:rPr lang="en-US" sz="1000" kern="1200"/>
            <a:t>For each VIN,  Sort files by timestamp</a:t>
          </a:r>
        </a:p>
        <a:p>
          <a:pPr marL="57150" lvl="1" indent="-57150" algn="l" defTabSz="444500">
            <a:lnSpc>
              <a:spcPct val="90000"/>
            </a:lnSpc>
            <a:spcBef>
              <a:spcPct val="0"/>
            </a:spcBef>
            <a:spcAft>
              <a:spcPct val="15000"/>
            </a:spcAft>
            <a:buChar char="•"/>
          </a:pPr>
          <a:r>
            <a:rPr lang="en-US" sz="1000" kern="1200"/>
            <a:t>Track when:</a:t>
          </a:r>
        </a:p>
        <a:p>
          <a:pPr marL="114300" lvl="2" indent="-57150" algn="l" defTabSz="444500">
            <a:lnSpc>
              <a:spcPct val="90000"/>
            </a:lnSpc>
            <a:spcBef>
              <a:spcPct val="0"/>
            </a:spcBef>
            <a:spcAft>
              <a:spcPct val="15000"/>
            </a:spcAft>
            <a:buChar char="•"/>
          </a:pPr>
          <a:r>
            <a:rPr lang="en-US" sz="1000" kern="1200"/>
            <a:t>a signal first appears</a:t>
          </a:r>
        </a:p>
        <a:p>
          <a:pPr marL="114300" lvl="2" indent="-57150" algn="l" defTabSz="444500">
            <a:lnSpc>
              <a:spcPct val="90000"/>
            </a:lnSpc>
            <a:spcBef>
              <a:spcPct val="0"/>
            </a:spcBef>
            <a:spcAft>
              <a:spcPct val="15000"/>
            </a:spcAft>
            <a:buChar char="•"/>
          </a:pPr>
          <a:r>
            <a:rPr lang="en-US" sz="1000" kern="1200"/>
            <a:t>a signal disappears permanently</a:t>
          </a:r>
        </a:p>
        <a:p>
          <a:pPr marL="114300" lvl="2" indent="-57150" algn="l" defTabSz="444500">
            <a:lnSpc>
              <a:spcPct val="90000"/>
            </a:lnSpc>
            <a:spcBef>
              <a:spcPct val="0"/>
            </a:spcBef>
            <a:spcAft>
              <a:spcPct val="15000"/>
            </a:spcAft>
            <a:buChar char="•"/>
          </a:pPr>
          <a:r>
            <a:rPr lang="en-US" sz="1000" kern="1200"/>
            <a:t>a signal flaps (appears, disappears, reappears)</a:t>
          </a:r>
        </a:p>
        <a:p>
          <a:pPr marL="57150" lvl="1" indent="-57150" algn="l" defTabSz="444500">
            <a:lnSpc>
              <a:spcPct val="90000"/>
            </a:lnSpc>
            <a:spcBef>
              <a:spcPct val="0"/>
            </a:spcBef>
            <a:spcAft>
              <a:spcPct val="15000"/>
            </a:spcAft>
            <a:buChar char="•"/>
          </a:pPr>
          <a:r>
            <a:rPr lang="en-US" sz="1000" kern="1200"/>
            <a:t>This produces: drift timelines,  version boundaries, and change points</a:t>
          </a:r>
        </a:p>
        <a:p>
          <a:pPr marL="57150" lvl="1" indent="-57150" algn="l" defTabSz="444500">
            <a:lnSpc>
              <a:spcPct val="90000"/>
            </a:lnSpc>
            <a:spcBef>
              <a:spcPct val="0"/>
            </a:spcBef>
            <a:spcAft>
              <a:spcPct val="15000"/>
            </a:spcAft>
            <a:buChar char="•"/>
          </a:pPr>
          <a:r>
            <a:rPr lang="en-US" sz="1000" kern="1200"/>
            <a:t>Build a VIN × signal × time presence matrix.</a:t>
          </a:r>
          <a:r>
            <a:rPr lang="en-US" sz="1000" b="1" kern="1200"/>
            <a:t> </a:t>
          </a:r>
          <a:endParaRPr lang="en-US" sz="1000" kern="1200"/>
        </a:p>
        <a:p>
          <a:pPr marL="114300" lvl="2" indent="-57150" algn="l" defTabSz="444500">
            <a:lnSpc>
              <a:spcPct val="90000"/>
            </a:lnSpc>
            <a:spcBef>
              <a:spcPct val="0"/>
            </a:spcBef>
            <a:spcAft>
              <a:spcPct val="15000"/>
            </a:spcAft>
            <a:buChar char="•"/>
          </a:pPr>
          <a:r>
            <a:rPr lang="en-US" sz="1000" kern="1200" dirty="0"/>
            <a:t>This is where domain knowledge comes in later — but your pipeline should surface the facts cleanly.</a:t>
          </a:r>
        </a:p>
      </dsp:txBody>
      <dsp:txXfrm>
        <a:off x="0" y="2691765"/>
        <a:ext cx="3467099" cy="2080260"/>
      </dsp:txXfrm>
    </dsp:sp>
    <dsp:sp modelId="{82931CC0-CF94-4A78-9416-3ABAAED6B755}">
      <dsp:nvSpPr>
        <dsp:cNvPr id="0" name=""/>
        <dsp:cNvSpPr/>
      </dsp:nvSpPr>
      <dsp:spPr>
        <a:xfrm>
          <a:off x="3813810" y="2691765"/>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Phase 5 — Compare schemas across VINs</a:t>
          </a:r>
        </a:p>
        <a:p>
          <a:pPr marL="57150" lvl="1" indent="-57150" algn="l" defTabSz="466725">
            <a:lnSpc>
              <a:spcPct val="90000"/>
            </a:lnSpc>
            <a:spcBef>
              <a:spcPct val="0"/>
            </a:spcBef>
            <a:spcAft>
              <a:spcPct val="15000"/>
            </a:spcAft>
            <a:buChar char="•"/>
          </a:pPr>
          <a:r>
            <a:rPr lang="en-US" sz="1050" kern="1200" dirty="0"/>
            <a:t>Once each VIN is internally consistent (or characterized): We  compare </a:t>
          </a:r>
          <a:r>
            <a:rPr lang="en-US" sz="1050" b="0" i="0" kern="1200" dirty="0"/>
            <a:t>VIN-level schemas</a:t>
          </a:r>
          <a:r>
            <a:rPr lang="en-US" sz="1050" kern="1200" dirty="0"/>
            <a:t>,  VIN A vs VIN B,  common signals, VIN-specific signals</a:t>
          </a:r>
        </a:p>
        <a:p>
          <a:pPr marL="57150" lvl="1" indent="-57150" algn="l" defTabSz="466725">
            <a:lnSpc>
              <a:spcPct val="90000"/>
            </a:lnSpc>
            <a:spcBef>
              <a:spcPct val="0"/>
            </a:spcBef>
            <a:spcAft>
              <a:spcPct val="15000"/>
            </a:spcAft>
            <a:buChar char="•"/>
          </a:pPr>
          <a:r>
            <a:rPr lang="en-US" sz="1050" kern="1200"/>
            <a:t>This answers: “Are different vehicles instrumented differently?”, We do this,  within same MODEL, within same GROUP, across years</a:t>
          </a:r>
        </a:p>
      </dsp:txBody>
      <dsp:txXfrm>
        <a:off x="3813810" y="2691765"/>
        <a:ext cx="3467099" cy="2080260"/>
      </dsp:txXfrm>
    </dsp:sp>
    <dsp:sp modelId="{288591A9-DF0E-45C3-8BDD-8781609053DE}">
      <dsp:nvSpPr>
        <dsp:cNvPr id="0" name=""/>
        <dsp:cNvSpPr/>
      </dsp:nvSpPr>
      <dsp:spPr>
        <a:xfrm>
          <a:off x="7627619" y="2691765"/>
          <a:ext cx="3467099" cy="2080260"/>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Phase 6 — Classify discrepancies (important for interpretation),  Not all differences are “errors”.</a:t>
          </a:r>
        </a:p>
        <a:p>
          <a:pPr marL="57150" lvl="1" indent="-57150" algn="l" defTabSz="444500">
            <a:lnSpc>
              <a:spcPct val="90000"/>
            </a:lnSpc>
            <a:spcBef>
              <a:spcPct val="0"/>
            </a:spcBef>
            <a:spcAft>
              <a:spcPct val="15000"/>
            </a:spcAft>
            <a:buChar char="•"/>
          </a:pPr>
          <a:r>
            <a:rPr lang="en-US" sz="1000" kern="1200"/>
            <a:t>We can classify signal differences as:</a:t>
          </a:r>
        </a:p>
        <a:p>
          <a:pPr marL="114300" lvl="2" indent="-57150" algn="l" defTabSz="444500">
            <a:lnSpc>
              <a:spcPct val="90000"/>
            </a:lnSpc>
            <a:spcBef>
              <a:spcPct val="0"/>
            </a:spcBef>
            <a:spcAft>
              <a:spcPct val="15000"/>
            </a:spcAft>
            <a:buChar char="•"/>
          </a:pPr>
          <a:r>
            <a:rPr lang="en-US" sz="1000" kern="1200"/>
            <a:t>Expected differences</a:t>
          </a:r>
        </a:p>
        <a:p>
          <a:pPr marL="171450" lvl="3" indent="-57150" algn="l" defTabSz="444500">
            <a:lnSpc>
              <a:spcPct val="90000"/>
            </a:lnSpc>
            <a:spcBef>
              <a:spcPct val="0"/>
            </a:spcBef>
            <a:spcAft>
              <a:spcPct val="15000"/>
            </a:spcAft>
            <a:buChar char="•"/>
          </a:pPr>
          <a:r>
            <a:rPr lang="en-US" sz="1000" kern="1200"/>
            <a:t>model-specific</a:t>
          </a:r>
        </a:p>
        <a:p>
          <a:pPr marL="171450" lvl="3" indent="-57150" algn="l" defTabSz="444500">
            <a:lnSpc>
              <a:spcPct val="90000"/>
            </a:lnSpc>
            <a:spcBef>
              <a:spcPct val="0"/>
            </a:spcBef>
            <a:spcAft>
              <a:spcPct val="15000"/>
            </a:spcAft>
            <a:buChar char="•"/>
          </a:pPr>
          <a:r>
            <a:rPr lang="en-US" sz="1000" kern="1200"/>
            <a:t>optional equipment</a:t>
          </a:r>
        </a:p>
        <a:p>
          <a:pPr marL="171450" lvl="3" indent="-57150" algn="l" defTabSz="444500">
            <a:lnSpc>
              <a:spcPct val="90000"/>
            </a:lnSpc>
            <a:spcBef>
              <a:spcPct val="0"/>
            </a:spcBef>
            <a:spcAft>
              <a:spcPct val="15000"/>
            </a:spcAft>
            <a:buChar char="•"/>
          </a:pPr>
          <a:r>
            <a:rPr lang="en-US" sz="1000" kern="1200"/>
            <a:t>year-based upgrades</a:t>
          </a:r>
        </a:p>
        <a:p>
          <a:pPr marL="114300" lvl="2" indent="-57150" algn="l" defTabSz="444500">
            <a:lnSpc>
              <a:spcPct val="90000"/>
            </a:lnSpc>
            <a:spcBef>
              <a:spcPct val="0"/>
            </a:spcBef>
            <a:spcAft>
              <a:spcPct val="15000"/>
            </a:spcAft>
            <a:buChar char="•"/>
          </a:pPr>
          <a:r>
            <a:rPr lang="en-US" sz="1000" kern="1200" dirty="0"/>
            <a:t>Potential data quality issues</a:t>
          </a:r>
        </a:p>
        <a:p>
          <a:pPr marL="171450" lvl="3" indent="-57150" algn="l" defTabSz="444500">
            <a:lnSpc>
              <a:spcPct val="90000"/>
            </a:lnSpc>
            <a:spcBef>
              <a:spcPct val="0"/>
            </a:spcBef>
            <a:spcAft>
              <a:spcPct val="15000"/>
            </a:spcAft>
            <a:buChar char="•"/>
          </a:pPr>
          <a:r>
            <a:rPr lang="en-US" sz="1000" kern="1200"/>
            <a:t>missing signals mid-life</a:t>
          </a:r>
        </a:p>
        <a:p>
          <a:pPr marL="171450" lvl="3" indent="-57150" algn="l" defTabSz="444500">
            <a:lnSpc>
              <a:spcPct val="90000"/>
            </a:lnSpc>
            <a:spcBef>
              <a:spcPct val="0"/>
            </a:spcBef>
            <a:spcAft>
              <a:spcPct val="15000"/>
            </a:spcAft>
            <a:buChar char="•"/>
          </a:pPr>
          <a:r>
            <a:rPr lang="en-US" sz="1000" kern="1200"/>
            <a:t>unexpected renaming</a:t>
          </a:r>
        </a:p>
        <a:p>
          <a:pPr marL="171450" lvl="3" indent="-57150" algn="l" defTabSz="444500">
            <a:lnSpc>
              <a:spcPct val="90000"/>
            </a:lnSpc>
            <a:spcBef>
              <a:spcPct val="0"/>
            </a:spcBef>
            <a:spcAft>
              <a:spcPct val="15000"/>
            </a:spcAft>
            <a:buChar char="•"/>
          </a:pPr>
          <a:r>
            <a:rPr lang="en-US" sz="1000" kern="1200"/>
            <a:t>inconsistent availability </a:t>
          </a:r>
        </a:p>
      </dsp:txBody>
      <dsp:txXfrm>
        <a:off x="7627619" y="2691765"/>
        <a:ext cx="3467099" cy="208026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2031-DD80-01E4-A07C-C88335D359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3E8E4B-82C6-1D10-4963-7AC647C557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4D9D87C7-16D6-676F-9D77-D23FD4AA0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65435-D35C-694B-F306-1F5237E3AADF}"/>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2706593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DF46D-5392-391F-0090-BFA190A33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CBC12E-DB46-A652-3F9C-0E7B5CDF8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5073645-3609-3217-2D5D-316FA9555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57341-00C2-2859-EB37-C26A1779C39B}"/>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3324402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A274-AA00-91A0-7F02-B4EA30CA47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06DC8F-F787-D4C3-1BCE-C692913ECD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C6D9B0-8533-A294-7180-03B5A47F0EA3}"/>
              </a:ext>
            </a:extLst>
          </p:cNvPr>
          <p:cNvSpPr>
            <a:spLocks noGrp="1"/>
          </p:cNvSpPr>
          <p:nvPr>
            <p:ph type="dt" sz="half" idx="10"/>
          </p:nvPr>
        </p:nvSpPr>
        <p:spPr>
          <a:xfrm>
            <a:off x="838200" y="6356350"/>
            <a:ext cx="2743200" cy="365125"/>
          </a:xfrm>
          <a:prstGeom prst="rect">
            <a:avLst/>
          </a:prstGeom>
        </p:spPr>
        <p:txBody>
          <a:bodyPr/>
          <a:lstStyle/>
          <a:p>
            <a:fld id="{66429E72-81D2-F543-98F3-BA19AAC7B76D}" type="datetimeFigureOut">
              <a:rPr lang="en-US" smtClean="0"/>
              <a:t>3/15/2026</a:t>
            </a:fld>
            <a:endParaRPr lang="en-US"/>
          </a:p>
        </p:txBody>
      </p:sp>
      <p:sp>
        <p:nvSpPr>
          <p:cNvPr id="5" name="Footer Placeholder 4">
            <a:extLst>
              <a:ext uri="{FF2B5EF4-FFF2-40B4-BE49-F238E27FC236}">
                <a16:creationId xmlns:a16="http://schemas.microsoft.com/office/drawing/2014/main" id="{AD55A16C-865F-866D-8337-7D095AE1A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20647-2C52-2715-E67B-9AEF5AE5DE29}"/>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1025103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75D41-9A35-BB9B-E84E-48B5D897FA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580B5-0BD4-3DB9-1CBC-B19DB7E449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A2DAA8-E53A-D2BC-77C4-7A927AC181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DEF1442A-D799-725F-804C-B7680FD69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37D011-F1BA-7DFF-3B9E-73F1FB935B8D}"/>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4039978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10E0-33C3-DE43-C04C-B4B0E1CA00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1741DB-D53B-A387-C87F-C4CAE02FF9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9E1DA7-845C-523B-99B7-5D2BFDF988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149936-C9E8-5EB8-93B2-A625B848B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79AB29-B1B2-9341-4A7F-5FF4841EE8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32A1AA9-9B1F-0712-BE9B-D405ADE69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F56363-D570-AE3B-B99F-05DE5C5E69B1}"/>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2553875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2205-B526-B0E9-1A2A-730A9884C6A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4A2A185A-2D2B-C841-E38A-46F54BBF4C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E10F4C-9BB5-9A51-C4B5-B5A555683708}"/>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230706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E60853-F2AC-136F-020F-73CDFBBE9C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7F3E14-A0B5-F8F6-4473-C0325DC1E463}"/>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91426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D883-53F3-B486-0537-D9AD8B26E4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A5621-1D2B-0965-CB82-9153ED433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3084AF-FA2F-D826-B667-4B06F6B48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9E0DEA6-B44F-2767-F605-530BD2D99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96978C-08E1-5662-BAD6-31D898E11874}"/>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3935117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0026F-9598-1BB4-70E0-545950ED52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C93BD5-4715-3A21-3E6C-E605847093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D9575E-53F4-B5F8-26C5-7260FD178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E24333AB-2D41-0DD8-F95B-1C298E347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5FD43F-A739-2230-702A-F11C0674ED67}"/>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3892232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5A87-8A20-6DC8-537F-D1FC64E66D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DFD04A-1CB6-51FF-59F8-D79C2D1006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8C2A030-9B68-8644-0C37-1ABB99E77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23B204-221E-198D-0A04-F90A1717AFA0}"/>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370951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6F7B4-E33A-B44E-DD93-6BB8DC79D2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468043-7B8A-58EC-1C5C-EBC472B3D8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36CBBC-D514-4BA0-C2A8-0B21D82DC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FB006-EA5A-F11B-52E8-4EAC504418F8}"/>
              </a:ext>
            </a:extLst>
          </p:cNvPr>
          <p:cNvSpPr>
            <a:spLocks noGrp="1"/>
          </p:cNvSpPr>
          <p:nvPr>
            <p:ph type="sldNum" sz="quarter" idx="12"/>
          </p:nvPr>
        </p:nvSpPr>
        <p:spPr/>
        <p:txBody>
          <a:bodyPr/>
          <a:lstStyle/>
          <a:p>
            <a:fld id="{F8EF2A0C-2E1C-2149-8B52-2A8E75D7B7C5}" type="slidenum">
              <a:rPr lang="en-US" smtClean="0"/>
              <a:t>‹#›</a:t>
            </a:fld>
            <a:endParaRPr lang="en-US"/>
          </a:p>
        </p:txBody>
      </p:sp>
    </p:spTree>
    <p:extLst>
      <p:ext uri="{BB962C8B-B14F-4D97-AF65-F5344CB8AC3E}">
        <p14:creationId xmlns:p14="http://schemas.microsoft.com/office/powerpoint/2010/main" val="21606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1C6A7304-A0BB-4285-A8E0-636508815C4B}"/>
              </a:ext>
            </a:extLst>
          </p:cNvPr>
          <p:cNvSpPr>
            <a:spLocks noGrp="1"/>
          </p:cNvSpPr>
          <p:nvPr>
            <p:ph type="title" hasCustomPrompt="1"/>
          </p:nvPr>
        </p:nvSpPr>
        <p:spPr/>
        <p:txBody>
          <a:bodyPr/>
          <a:lstStyle>
            <a:lvl1pPr>
              <a:defRPr/>
            </a:lvl1pPr>
          </a:lstStyle>
          <a:p>
            <a:r>
              <a:rPr lang="de-DE" dirty="0"/>
              <a:t>Write Title </a:t>
            </a:r>
            <a:r>
              <a:rPr lang="de-DE" dirty="0" err="1"/>
              <a:t>here</a:t>
            </a:r>
            <a:endParaRPr lang="en-US" dirty="0"/>
          </a:p>
        </p:txBody>
      </p:sp>
      <p:sp>
        <p:nvSpPr>
          <p:cNvPr id="2" name="Footer Placeholder 1">
            <a:extLst>
              <a:ext uri="{FF2B5EF4-FFF2-40B4-BE49-F238E27FC236}">
                <a16:creationId xmlns:a16="http://schemas.microsoft.com/office/drawing/2014/main" id="{FE581B89-EF62-4C8A-81B1-1BFA4A81B302}"/>
              </a:ext>
            </a:extLst>
          </p:cNvPr>
          <p:cNvSpPr>
            <a:spLocks noGrp="1"/>
          </p:cNvSpPr>
          <p:nvPr>
            <p:ph type="ftr" sz="quarter" idx="10"/>
          </p:nvPr>
        </p:nvSpPr>
        <p:spPr/>
        <p:txBody>
          <a:bodyPr/>
          <a:lstStyle/>
          <a:p>
            <a:r>
              <a:rPr lang="pt-BR"/>
              <a:t>C O N F I D E N T I A L</a:t>
            </a:r>
            <a:endParaRPr lang="en-US"/>
          </a:p>
        </p:txBody>
      </p:sp>
      <p:sp>
        <p:nvSpPr>
          <p:cNvPr id="4" name="Slide Number Placeholder 3">
            <a:extLst>
              <a:ext uri="{FF2B5EF4-FFF2-40B4-BE49-F238E27FC236}">
                <a16:creationId xmlns:a16="http://schemas.microsoft.com/office/drawing/2014/main" id="{0A5DF752-89DA-42E3-ACCE-61C8F68F4B8C}"/>
              </a:ext>
            </a:extLst>
          </p:cNvPr>
          <p:cNvSpPr>
            <a:spLocks noGrp="1"/>
          </p:cNvSpPr>
          <p:nvPr>
            <p:ph type="sldNum" sz="quarter" idx="11"/>
          </p:nvPr>
        </p:nvSpPr>
        <p:spPr/>
        <p:txBody>
          <a:bodyPr/>
          <a:lstStyle/>
          <a:p>
            <a:fld id="{05298CB1-4000-4C34-8BE7-DC1D93D92EBB}" type="slidenum">
              <a:rPr lang="en-US" smtClean="0"/>
              <a:pPr/>
              <a:t>‹#›</a:t>
            </a:fld>
            <a:endParaRPr lang="en-US"/>
          </a:p>
        </p:txBody>
      </p:sp>
      <p:sp>
        <p:nvSpPr>
          <p:cNvPr id="6" name="Content Placeholder 5">
            <a:extLst>
              <a:ext uri="{FF2B5EF4-FFF2-40B4-BE49-F238E27FC236}">
                <a16:creationId xmlns:a16="http://schemas.microsoft.com/office/drawing/2014/main" id="{3311464F-576C-454C-813C-301BC49D455B}"/>
              </a:ext>
            </a:extLst>
          </p:cNvPr>
          <p:cNvSpPr>
            <a:spLocks noGrp="1"/>
          </p:cNvSpPr>
          <p:nvPr>
            <p:ph sz="quarter" idx="12"/>
          </p:nvPr>
        </p:nvSpPr>
        <p:spPr>
          <a:xfrm>
            <a:off x="944564" y="941777"/>
            <a:ext cx="10272712" cy="490777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1308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No Bumper">
    <p:spTree>
      <p:nvGrpSpPr>
        <p:cNvPr id="1" name=""/>
        <p:cNvGrpSpPr/>
        <p:nvPr/>
      </p:nvGrpSpPr>
      <p:grpSpPr>
        <a:xfrm>
          <a:off x="0" y="0"/>
          <a:ext cx="0" cy="0"/>
          <a:chOff x="0" y="0"/>
          <a:chExt cx="0" cy="0"/>
        </a:xfrm>
      </p:grpSpPr>
      <p:sp>
        <p:nvSpPr>
          <p:cNvPr id="2" name="Title 1"/>
          <p:cNvSpPr>
            <a:spLocks noGrp="1"/>
          </p:cNvSpPr>
          <p:nvPr>
            <p:ph type="title"/>
          </p:nvPr>
        </p:nvSpPr>
        <p:spPr>
          <a:xfrm>
            <a:off x="1115681" y="99568"/>
            <a:ext cx="10607040" cy="480131"/>
          </a:xfrm>
          <a:prstGeom prst="rect">
            <a:avLst/>
          </a:prstGeom>
        </p:spPr>
        <p:txBody>
          <a:bodyPr/>
          <a:lstStyle>
            <a:lvl1pPr>
              <a:defRPr>
                <a:effectLst/>
              </a:defRPr>
            </a:lvl1pPr>
          </a:lstStyle>
          <a:p>
            <a:r>
              <a:rPr lang="en-US" dirty="0"/>
              <a:t>Click to edit Master title style</a:t>
            </a:r>
          </a:p>
        </p:txBody>
      </p:sp>
      <p:sp>
        <p:nvSpPr>
          <p:cNvPr id="4" name="Slide Number Placeholder 3"/>
          <p:cNvSpPr>
            <a:spLocks noGrp="1"/>
          </p:cNvSpPr>
          <p:nvPr>
            <p:ph type="sldNum" sz="quarter" idx="11"/>
          </p:nvPr>
        </p:nvSpPr>
        <p:spPr>
          <a:xfrm>
            <a:off x="4612256" y="6646189"/>
            <a:ext cx="2967488" cy="184666"/>
          </a:xfrm>
          <a:prstGeom prst="rect">
            <a:avLst/>
          </a:prstGeom>
        </p:spPr>
        <p:txBody>
          <a:bodyPr/>
          <a:lstStyle/>
          <a:p>
            <a:fld id="{11BF554B-E107-41E3-ADBD-7C3478DC5962}" type="slidenum">
              <a:rPr lang="en-US" smtClean="0">
                <a:solidFill>
                  <a:prstClr val="black">
                    <a:lumMod val="50000"/>
                    <a:lumOff val="50000"/>
                  </a:prstClr>
                </a:solidFill>
              </a:rPr>
              <a:pPr/>
              <a:t>‹#›</a:t>
            </a:fld>
            <a:endParaRPr lang="en-US" dirty="0">
              <a:solidFill>
                <a:prstClr val="black">
                  <a:lumMod val="50000"/>
                  <a:lumOff val="50000"/>
                </a:prstClr>
              </a:solidFill>
            </a:endParaRPr>
          </a:p>
        </p:txBody>
      </p:sp>
    </p:spTree>
    <p:extLst>
      <p:ext uri="{BB962C8B-B14F-4D97-AF65-F5344CB8AC3E}">
        <p14:creationId xmlns:p14="http://schemas.microsoft.com/office/powerpoint/2010/main" val="1347407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03DBA-96AD-B565-E70C-CF0902A113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F5D56E-A3D4-5372-78DD-82A957218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2924E2D-0529-B235-34A9-12BEE41A93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E8FFA21-9062-7B8E-7A45-CC62CB321A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F2A0C-2E1C-2149-8B52-2A8E75D7B7C5}" type="slidenum">
              <a:rPr lang="en-US" smtClean="0"/>
              <a:t>‹#›</a:t>
            </a:fld>
            <a:endParaRPr lang="en-US"/>
          </a:p>
        </p:txBody>
      </p:sp>
      <p:sp>
        <p:nvSpPr>
          <p:cNvPr id="8" name="TextBox 7">
            <a:extLst>
              <a:ext uri="{FF2B5EF4-FFF2-40B4-BE49-F238E27FC236}">
                <a16:creationId xmlns:a16="http://schemas.microsoft.com/office/drawing/2014/main" id="{478BD821-3F2D-A31A-BDC0-717F78F9C6C3}"/>
              </a:ext>
            </a:extLst>
          </p:cNvPr>
          <p:cNvSpPr txBox="1"/>
          <p:nvPr userDrawn="1">
            <p:extLst>
              <p:ext uri="{1162E1C5-73C7-4A58-AE30-91384D911F3F}">
                <p184:classification xmlns:p184="http://schemas.microsoft.com/office/powerpoint/2018/4/main" val="ftr"/>
              </p:ext>
            </p:extLst>
          </p:nvPr>
        </p:nvSpPr>
        <p:spPr>
          <a:xfrm>
            <a:off x="5789613" y="6687820"/>
            <a:ext cx="630237" cy="106680"/>
          </a:xfrm>
          <a:prstGeom prst="rect">
            <a:avLst/>
          </a:prstGeom>
        </p:spPr>
        <p:txBody>
          <a:bodyPr horzOverflow="overflow" lIns="0" tIns="0" rIns="0" bIns="0">
            <a:spAutoFit/>
          </a:bodyPr>
          <a:lstStyle/>
          <a:p>
            <a:pPr algn="l"/>
            <a:r>
              <a:rPr lang="en-US" sz="700">
                <a:solidFill>
                  <a:srgbClr val="000000">
                    <a:alpha val="50000"/>
                  </a:srgbClr>
                </a:solidFill>
                <a:latin typeface="Aptos" panose="020B0004020202020204" pitchFamily="34" charset="0"/>
              </a:rPr>
              <a:t>UNRESTRICTED</a:t>
            </a:r>
          </a:p>
        </p:txBody>
      </p:sp>
      <p:pic>
        <p:nvPicPr>
          <p:cNvPr id="10" name="Picture 9">
            <a:extLst>
              <a:ext uri="{FF2B5EF4-FFF2-40B4-BE49-F238E27FC236}">
                <a16:creationId xmlns:a16="http://schemas.microsoft.com/office/drawing/2014/main" id="{01CCFED9-2558-5B4D-4ABB-6286106C65EF}"/>
              </a:ext>
            </a:extLst>
          </p:cNvPr>
          <p:cNvPicPr>
            <a:picLocks noChangeAspect="1"/>
          </p:cNvPicPr>
          <p:nvPr userDrawn="1"/>
        </p:nvPicPr>
        <p:blipFill>
          <a:blip r:embed="rId15"/>
          <a:srcRect/>
          <a:stretch/>
        </p:blipFill>
        <p:spPr>
          <a:xfrm>
            <a:off x="36785" y="6386628"/>
            <a:ext cx="3251548" cy="334847"/>
          </a:xfrm>
          <a:prstGeom prst="rect">
            <a:avLst/>
          </a:prstGeom>
        </p:spPr>
      </p:pic>
    </p:spTree>
    <p:extLst>
      <p:ext uri="{BB962C8B-B14F-4D97-AF65-F5344CB8AC3E}">
        <p14:creationId xmlns:p14="http://schemas.microsoft.com/office/powerpoint/2010/main" val="2268478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pxhere.com/en/photo/753856" TargetMode="External"/><Relationship Id="rId2" Type="http://schemas.openxmlformats.org/officeDocument/2006/relationships/image" Target="../media/image24.jp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FF109-5ED9-761C-3B61-C1FA62FDE49A}"/>
              </a:ext>
            </a:extLst>
          </p:cNvPr>
          <p:cNvSpPr>
            <a:spLocks noGrp="1"/>
          </p:cNvSpPr>
          <p:nvPr>
            <p:ph type="ctrTitle"/>
          </p:nvPr>
        </p:nvSpPr>
        <p:spPr>
          <a:xfrm>
            <a:off x="1323975" y="1328116"/>
            <a:ext cx="9144000" cy="2387600"/>
          </a:xfrm>
        </p:spPr>
        <p:txBody>
          <a:bodyPr>
            <a:noAutofit/>
          </a:bodyPr>
          <a:lstStyle/>
          <a:p>
            <a:pPr algn="l"/>
            <a:r>
              <a:rPr lang="en-US" b="1" dirty="0"/>
              <a:t>Truck Fleet Failure Prediction</a:t>
            </a:r>
            <a:endParaRPr lang="en-US" sz="8500" dirty="0">
              <a:latin typeface="Playfair Display Medium" pitchFamily="2" charset="77"/>
            </a:endParaRPr>
          </a:p>
        </p:txBody>
      </p:sp>
      <p:sp>
        <p:nvSpPr>
          <p:cNvPr id="3" name="Subtitle 2">
            <a:extLst>
              <a:ext uri="{FF2B5EF4-FFF2-40B4-BE49-F238E27FC236}">
                <a16:creationId xmlns:a16="http://schemas.microsoft.com/office/drawing/2014/main" id="{D9ECFEF2-531B-6DCC-3FD2-125624D18BBB}"/>
              </a:ext>
            </a:extLst>
          </p:cNvPr>
          <p:cNvSpPr>
            <a:spLocks noGrp="1"/>
          </p:cNvSpPr>
          <p:nvPr>
            <p:ph type="subTitle" idx="1"/>
          </p:nvPr>
        </p:nvSpPr>
        <p:spPr>
          <a:xfrm>
            <a:off x="1524000" y="3602038"/>
            <a:ext cx="9144000" cy="1005346"/>
          </a:xfrm>
        </p:spPr>
        <p:txBody>
          <a:bodyPr/>
          <a:lstStyle/>
          <a:p>
            <a:pPr algn="l"/>
            <a:r>
              <a:rPr lang="en-US" dirty="0"/>
              <a:t>Team </a:t>
            </a:r>
            <a:r>
              <a:rPr lang="en-US" dirty="0" err="1"/>
              <a:t>BrakeGuard</a:t>
            </a:r>
            <a:endParaRPr lang="en-US" dirty="0"/>
          </a:p>
          <a:p>
            <a:pPr algn="l"/>
            <a:r>
              <a:rPr lang="en-US" dirty="0" err="1"/>
              <a:t>guga-fayrooz-seungdo-vishred</a:t>
            </a:r>
            <a:endParaRPr lang="en-US" dirty="0"/>
          </a:p>
        </p:txBody>
      </p:sp>
      <p:sp>
        <p:nvSpPr>
          <p:cNvPr id="4" name="Rectangle 3">
            <a:extLst>
              <a:ext uri="{FF2B5EF4-FFF2-40B4-BE49-F238E27FC236}">
                <a16:creationId xmlns:a16="http://schemas.microsoft.com/office/drawing/2014/main" id="{25F96DB6-3539-A153-1DDF-540F68E59922}"/>
              </a:ext>
            </a:extLst>
          </p:cNvPr>
          <p:cNvSpPr/>
          <p:nvPr/>
        </p:nvSpPr>
        <p:spPr>
          <a:xfrm>
            <a:off x="0" y="0"/>
            <a:ext cx="12192000" cy="939452"/>
          </a:xfrm>
          <a:prstGeom prst="rect">
            <a:avLst/>
          </a:prstGeom>
          <a:solidFill>
            <a:srgbClr val="0D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26C4CD1-A61A-6E54-0D87-86EB7CBDACD1}"/>
              </a:ext>
            </a:extLst>
          </p:cNvPr>
          <p:cNvSpPr/>
          <p:nvPr/>
        </p:nvSpPr>
        <p:spPr>
          <a:xfrm>
            <a:off x="0" y="5660571"/>
            <a:ext cx="12192000" cy="1197429"/>
          </a:xfrm>
          <a:prstGeom prst="rect">
            <a:avLst/>
          </a:prstGeom>
          <a:solidFill>
            <a:srgbClr val="0D28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6EFEF05-C100-1140-9AAC-5A006B7E3EB5}"/>
              </a:ext>
            </a:extLst>
          </p:cNvPr>
          <p:cNvPicPr>
            <a:picLocks noChangeAspect="1"/>
          </p:cNvPicPr>
          <p:nvPr/>
        </p:nvPicPr>
        <p:blipFill>
          <a:blip r:embed="rId2"/>
          <a:srcRect/>
          <a:stretch/>
        </p:blipFill>
        <p:spPr>
          <a:xfrm>
            <a:off x="381000" y="6193477"/>
            <a:ext cx="3251548" cy="334847"/>
          </a:xfrm>
          <a:prstGeom prst="rect">
            <a:avLst/>
          </a:prstGeom>
        </p:spPr>
      </p:pic>
      <p:cxnSp>
        <p:nvCxnSpPr>
          <p:cNvPr id="7" name="Straight Connector 6">
            <a:extLst>
              <a:ext uri="{FF2B5EF4-FFF2-40B4-BE49-F238E27FC236}">
                <a16:creationId xmlns:a16="http://schemas.microsoft.com/office/drawing/2014/main" id="{2EAC6F7E-3EBB-B08A-67F5-451D7596D581}"/>
              </a:ext>
            </a:extLst>
          </p:cNvPr>
          <p:cNvCxnSpPr/>
          <p:nvPr/>
        </p:nvCxnSpPr>
        <p:spPr>
          <a:xfrm>
            <a:off x="-59944" y="786499"/>
            <a:ext cx="12317260" cy="0"/>
          </a:xfrm>
          <a:prstGeom prst="line">
            <a:avLst/>
          </a:prstGeom>
          <a:ln w="3175">
            <a:solidFill>
              <a:srgbClr val="FFCD09"/>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100A621-0117-2DCA-9320-63B0882D96C6}"/>
              </a:ext>
            </a:extLst>
          </p:cNvPr>
          <p:cNvCxnSpPr/>
          <p:nvPr/>
        </p:nvCxnSpPr>
        <p:spPr>
          <a:xfrm>
            <a:off x="-70834" y="5804812"/>
            <a:ext cx="12317260" cy="0"/>
          </a:xfrm>
          <a:prstGeom prst="line">
            <a:avLst/>
          </a:prstGeom>
          <a:ln w="3175">
            <a:solidFill>
              <a:srgbClr val="FFCD0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923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21F06-9F4C-E5D8-2FBB-063EBCE59304}"/>
              </a:ext>
            </a:extLst>
          </p:cNvPr>
          <p:cNvSpPr>
            <a:spLocks noGrp="1"/>
          </p:cNvSpPr>
          <p:nvPr>
            <p:ph type="title"/>
          </p:nvPr>
        </p:nvSpPr>
        <p:spPr/>
        <p:txBody>
          <a:bodyPr/>
          <a:lstStyle/>
          <a:p>
            <a:r>
              <a:rPr lang="en-US" dirty="0"/>
              <a:t>Exhaust Brake </a:t>
            </a:r>
          </a:p>
        </p:txBody>
      </p:sp>
      <p:sp>
        <p:nvSpPr>
          <p:cNvPr id="5" name="Text Placeholder 4">
            <a:extLst>
              <a:ext uri="{FF2B5EF4-FFF2-40B4-BE49-F238E27FC236}">
                <a16:creationId xmlns:a16="http://schemas.microsoft.com/office/drawing/2014/main" id="{1444F6D9-DB2C-0E92-E02D-8217851CB9E5}"/>
              </a:ext>
            </a:extLst>
          </p:cNvPr>
          <p:cNvSpPr>
            <a:spLocks noGrp="1"/>
          </p:cNvSpPr>
          <p:nvPr>
            <p:ph type="body" idx="1"/>
          </p:nvPr>
        </p:nvSpPr>
        <p:spPr/>
        <p:txBody>
          <a:bodyPr/>
          <a:lstStyle/>
          <a:p>
            <a:r>
              <a:rPr lang="en-US" dirty="0"/>
              <a:t>Exhaust Brake Butterfly Valve</a:t>
            </a:r>
          </a:p>
        </p:txBody>
      </p:sp>
      <p:pic>
        <p:nvPicPr>
          <p:cNvPr id="4" name="Picture 2" descr="exhaust-brake">
            <a:extLst>
              <a:ext uri="{FF2B5EF4-FFF2-40B4-BE49-F238E27FC236}">
                <a16:creationId xmlns:a16="http://schemas.microsoft.com/office/drawing/2014/main" id="{DDF0C3FD-8C48-1EC5-56E6-3222710A569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1278193" y="2836146"/>
            <a:ext cx="2785975" cy="27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a:extLst>
              <a:ext uri="{FF2B5EF4-FFF2-40B4-BE49-F238E27FC236}">
                <a16:creationId xmlns:a16="http://schemas.microsoft.com/office/drawing/2014/main" id="{5A427E5F-7958-7F7C-BA08-FD686B83DE06}"/>
              </a:ext>
            </a:extLst>
          </p:cNvPr>
          <p:cNvSpPr>
            <a:spLocks noGrp="1"/>
          </p:cNvSpPr>
          <p:nvPr>
            <p:ph type="body" sz="quarter" idx="3"/>
          </p:nvPr>
        </p:nvSpPr>
        <p:spPr>
          <a:xfrm>
            <a:off x="6169024" y="109538"/>
            <a:ext cx="5183188" cy="823912"/>
          </a:xfrm>
        </p:spPr>
        <p:txBody>
          <a:bodyPr/>
          <a:lstStyle/>
          <a:p>
            <a:r>
              <a:rPr lang="en-US" dirty="0"/>
              <a:t>Field Observation</a:t>
            </a:r>
          </a:p>
        </p:txBody>
      </p:sp>
      <p:sp>
        <p:nvSpPr>
          <p:cNvPr id="7" name="Content Placeholder 6">
            <a:extLst>
              <a:ext uri="{FF2B5EF4-FFF2-40B4-BE49-F238E27FC236}">
                <a16:creationId xmlns:a16="http://schemas.microsoft.com/office/drawing/2014/main" id="{CD3A3BD2-FB7E-A0EA-2ABF-EAE613B077ED}"/>
              </a:ext>
            </a:extLst>
          </p:cNvPr>
          <p:cNvSpPr>
            <a:spLocks noGrp="1"/>
          </p:cNvSpPr>
          <p:nvPr>
            <p:ph sz="quarter" idx="4"/>
          </p:nvPr>
        </p:nvSpPr>
        <p:spPr>
          <a:xfrm>
            <a:off x="5997574" y="993852"/>
            <a:ext cx="6194425" cy="3684588"/>
          </a:xfrm>
        </p:spPr>
        <p:txBody>
          <a:bodyPr>
            <a:normAutofit fontScale="85000" lnSpcReduction="20000"/>
          </a:bodyPr>
          <a:lstStyle/>
          <a:p>
            <a:pPr marL="0" marR="0">
              <a:spcBef>
                <a:spcPts val="0"/>
              </a:spcBef>
              <a:spcAft>
                <a:spcPts val="600"/>
              </a:spcAft>
            </a:pPr>
            <a:r>
              <a:rPr lang="en-US" dirty="0">
                <a:ea typeface="Calibri" panose="020F0502020204030204" pitchFamily="34" charset="0"/>
              </a:rPr>
              <a:t>The vehicles in the field were showing a safety problem. </a:t>
            </a:r>
          </a:p>
          <a:p>
            <a:pPr marL="0" marR="0">
              <a:spcBef>
                <a:spcPts val="0"/>
              </a:spcBef>
              <a:spcAft>
                <a:spcPts val="600"/>
              </a:spcAft>
            </a:pPr>
            <a:r>
              <a:rPr lang="en-US" dirty="0">
                <a:ea typeface="Calibri" panose="020F0502020204030204" pitchFamily="34" charset="0"/>
              </a:rPr>
              <a:t>When the driver tries to put the brake, some vehicles do not brake properly.  </a:t>
            </a:r>
          </a:p>
          <a:p>
            <a:pPr marL="0" marR="0">
              <a:spcBef>
                <a:spcPts val="0"/>
              </a:spcBef>
              <a:spcAft>
                <a:spcPts val="600"/>
              </a:spcAft>
            </a:pPr>
            <a:r>
              <a:rPr lang="en-US" dirty="0">
                <a:ea typeface="Calibri" panose="020F0502020204030204" pitchFamily="34" charset="0"/>
              </a:rPr>
              <a:t>The exhaust brake reduces the speed of the vehicle. It can be used as a supplementary braking system, which reduces the effort and increases the life of the service brakes by 2 to 3 times. </a:t>
            </a:r>
          </a:p>
          <a:p>
            <a:pPr marL="0" marR="0">
              <a:spcBef>
                <a:spcPts val="0"/>
              </a:spcBef>
              <a:spcAft>
                <a:spcPts val="600"/>
              </a:spcAft>
            </a:pPr>
            <a:r>
              <a:rPr lang="en-US" dirty="0">
                <a:ea typeface="Calibri" panose="020F0502020204030204" pitchFamily="34" charset="0"/>
              </a:rPr>
              <a:t>However, this component valve is sticking.  </a:t>
            </a:r>
          </a:p>
          <a:p>
            <a:pPr marL="0" marR="0">
              <a:spcBef>
                <a:spcPts val="0"/>
              </a:spcBef>
              <a:spcAft>
                <a:spcPts val="600"/>
              </a:spcAft>
            </a:pPr>
            <a:r>
              <a:rPr lang="en-US" dirty="0">
                <a:ea typeface="Calibri" panose="020F0502020204030204" pitchFamily="34" charset="0"/>
              </a:rPr>
              <a:t>We have verification of what valves were sticking as of May 2021.  </a:t>
            </a:r>
          </a:p>
          <a:p>
            <a:pPr marL="0" indent="0">
              <a:buNone/>
            </a:pPr>
            <a:endParaRPr lang="en-US" dirty="0"/>
          </a:p>
        </p:txBody>
      </p:sp>
      <p:pic>
        <p:nvPicPr>
          <p:cNvPr id="8" name="Picture 2" descr="Fig. 1">
            <a:extLst>
              <a:ext uri="{FF2B5EF4-FFF2-40B4-BE49-F238E27FC236}">
                <a16:creationId xmlns:a16="http://schemas.microsoft.com/office/drawing/2014/main" id="{0B69DF9A-377A-0969-45E1-3CE28FC3C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738842"/>
            <a:ext cx="4714875" cy="191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6354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7F45-CCB0-4D29-8434-B870798CBF3D}"/>
              </a:ext>
            </a:extLst>
          </p:cNvPr>
          <p:cNvSpPr>
            <a:spLocks noGrp="1"/>
          </p:cNvSpPr>
          <p:nvPr>
            <p:ph type="title"/>
          </p:nvPr>
        </p:nvSpPr>
        <p:spPr>
          <a:xfrm>
            <a:off x="906263" y="68202"/>
            <a:ext cx="10515600" cy="553998"/>
          </a:xfrm>
        </p:spPr>
        <p:txBody>
          <a:bodyPr>
            <a:normAutofit fontScale="90000"/>
          </a:bodyPr>
          <a:lstStyle/>
          <a:p>
            <a:r>
              <a:rPr lang="en-US" dirty="0"/>
              <a:t>Exhaust Brake Function</a:t>
            </a:r>
          </a:p>
        </p:txBody>
      </p:sp>
      <p:sp>
        <p:nvSpPr>
          <p:cNvPr id="4" name="Slide Number Placeholder 3">
            <a:extLst>
              <a:ext uri="{FF2B5EF4-FFF2-40B4-BE49-F238E27FC236}">
                <a16:creationId xmlns:a16="http://schemas.microsoft.com/office/drawing/2014/main" id="{4F6368C3-ECF1-4D25-9105-3B6104B0ACDC}"/>
              </a:ext>
            </a:extLst>
          </p:cNvPr>
          <p:cNvSpPr>
            <a:spLocks noGrp="1"/>
          </p:cNvSpPr>
          <p:nvPr>
            <p:ph type="sldNum" sz="quarter" idx="11"/>
          </p:nvPr>
        </p:nvSpPr>
        <p:spPr/>
        <p:txBody>
          <a:bodyPr/>
          <a:lstStyle/>
          <a:p>
            <a:fld id="{05298CB1-4000-4C34-8BE7-DC1D93D92EBB}" type="slidenum">
              <a:rPr lang="en-US" smtClean="0"/>
              <a:pPr/>
              <a:t>3</a:t>
            </a:fld>
            <a:endParaRPr lang="en-US"/>
          </a:p>
        </p:txBody>
      </p:sp>
      <p:pic>
        <p:nvPicPr>
          <p:cNvPr id="6" name="Content Placeholder 4">
            <a:extLst>
              <a:ext uri="{FF2B5EF4-FFF2-40B4-BE49-F238E27FC236}">
                <a16:creationId xmlns:a16="http://schemas.microsoft.com/office/drawing/2014/main" id="{7C48C702-A61D-4B96-AE31-93187F93FEB8}"/>
              </a:ext>
            </a:extLst>
          </p:cNvPr>
          <p:cNvPicPr>
            <a:picLocks noGrp="1" noChangeAspect="1"/>
          </p:cNvPicPr>
          <p:nvPr>
            <p:ph sz="quarter" idx="12"/>
          </p:nvPr>
        </p:nvPicPr>
        <p:blipFill>
          <a:blip r:embed="rId2"/>
          <a:stretch>
            <a:fillRect/>
          </a:stretch>
        </p:blipFill>
        <p:spPr>
          <a:xfrm>
            <a:off x="1878140" y="898633"/>
            <a:ext cx="3413316" cy="4551089"/>
          </a:xfrm>
        </p:spPr>
      </p:pic>
      <p:sp>
        <p:nvSpPr>
          <p:cNvPr id="7" name="TextBox 6">
            <a:extLst>
              <a:ext uri="{FF2B5EF4-FFF2-40B4-BE49-F238E27FC236}">
                <a16:creationId xmlns:a16="http://schemas.microsoft.com/office/drawing/2014/main" id="{6E00000B-7CB4-463D-8F0D-456ABB2499E0}"/>
              </a:ext>
            </a:extLst>
          </p:cNvPr>
          <p:cNvSpPr txBox="1"/>
          <p:nvPr/>
        </p:nvSpPr>
        <p:spPr>
          <a:xfrm>
            <a:off x="8981435" y="420240"/>
            <a:ext cx="2781670" cy="1661993"/>
          </a:xfrm>
          <a:prstGeom prst="rect">
            <a:avLst/>
          </a:prstGeom>
        </p:spPr>
        <p:style>
          <a:lnRef idx="2">
            <a:schemeClr val="accent6"/>
          </a:lnRef>
          <a:fillRef idx="1">
            <a:schemeClr val="lt1"/>
          </a:fillRef>
          <a:effectRef idx="0">
            <a:schemeClr val="accent6"/>
          </a:effectRef>
          <a:fontRef idx="minor">
            <a:schemeClr val="dk1"/>
          </a:fontRef>
        </p:style>
        <p:txBody>
          <a:bodyPr wrap="square" lIns="0" tIns="0" rIns="0" bIns="0" rtlCol="0">
            <a:spAutoFit/>
          </a:bodyPr>
          <a:lstStyle/>
          <a:p>
            <a:pPr algn="l"/>
            <a:r>
              <a:rPr lang="en-US" dirty="0"/>
              <a:t>During the Braking, this valve should be closed.  </a:t>
            </a:r>
          </a:p>
          <a:p>
            <a:pPr algn="l"/>
            <a:r>
              <a:rPr lang="en-US" dirty="0"/>
              <a:t>If this is </a:t>
            </a:r>
            <a:r>
              <a:rPr lang="en-US" b="1" dirty="0"/>
              <a:t>stuck open</a:t>
            </a:r>
            <a:r>
              <a:rPr lang="en-US" dirty="0"/>
              <a:t>,  The exhaust brake does not work.  </a:t>
            </a:r>
          </a:p>
          <a:p>
            <a:pPr algn="l"/>
            <a:endParaRPr lang="en-US" dirty="0" err="1"/>
          </a:p>
        </p:txBody>
      </p:sp>
      <p:sp>
        <p:nvSpPr>
          <p:cNvPr id="8" name="TextBox 7">
            <a:extLst>
              <a:ext uri="{FF2B5EF4-FFF2-40B4-BE49-F238E27FC236}">
                <a16:creationId xmlns:a16="http://schemas.microsoft.com/office/drawing/2014/main" id="{0440E92C-7102-444F-81E6-0CB20E856DEF}"/>
              </a:ext>
            </a:extLst>
          </p:cNvPr>
          <p:cNvSpPr txBox="1"/>
          <p:nvPr/>
        </p:nvSpPr>
        <p:spPr>
          <a:xfrm>
            <a:off x="5689727" y="1535322"/>
            <a:ext cx="1833835" cy="276999"/>
          </a:xfrm>
          <a:prstGeom prst="rect">
            <a:avLst/>
          </a:prstGeom>
          <a:noFill/>
        </p:spPr>
        <p:txBody>
          <a:bodyPr wrap="none" lIns="0" tIns="0" rIns="0" bIns="0" rtlCol="0">
            <a:spAutoFit/>
          </a:bodyPr>
          <a:lstStyle/>
          <a:p>
            <a:pPr algn="l"/>
            <a:r>
              <a:rPr lang="en-US" dirty="0"/>
              <a:t>No exhaust Brake</a:t>
            </a:r>
          </a:p>
        </p:txBody>
      </p:sp>
      <p:sp>
        <p:nvSpPr>
          <p:cNvPr id="10" name="TextBox 9">
            <a:extLst>
              <a:ext uri="{FF2B5EF4-FFF2-40B4-BE49-F238E27FC236}">
                <a16:creationId xmlns:a16="http://schemas.microsoft.com/office/drawing/2014/main" id="{4882CD0B-6C02-49C9-A547-BD97A28C86C7}"/>
              </a:ext>
            </a:extLst>
          </p:cNvPr>
          <p:cNvSpPr txBox="1"/>
          <p:nvPr/>
        </p:nvSpPr>
        <p:spPr>
          <a:xfrm>
            <a:off x="5597662" y="4655946"/>
            <a:ext cx="2821285" cy="276999"/>
          </a:xfrm>
          <a:prstGeom prst="rect">
            <a:avLst/>
          </a:prstGeom>
          <a:noFill/>
        </p:spPr>
        <p:txBody>
          <a:bodyPr wrap="none" lIns="0" tIns="0" rIns="0" bIns="0" rtlCol="0">
            <a:spAutoFit/>
          </a:bodyPr>
          <a:lstStyle/>
          <a:p>
            <a:pPr algn="l"/>
            <a:r>
              <a:rPr lang="en-US" dirty="0"/>
              <a:t>Exhaust Brake start to work</a:t>
            </a:r>
          </a:p>
        </p:txBody>
      </p:sp>
      <p:pic>
        <p:nvPicPr>
          <p:cNvPr id="5" name="Picture 2" descr="Fig. 1">
            <a:extLst>
              <a:ext uri="{FF2B5EF4-FFF2-40B4-BE49-F238E27FC236}">
                <a16:creationId xmlns:a16="http://schemas.microsoft.com/office/drawing/2014/main" id="{346CAE7D-E7C6-499F-FFBE-88862DFB7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4063" y="2529739"/>
            <a:ext cx="4714875" cy="191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357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8B71-EDE9-AE13-14BB-5A7A2FBFA591}"/>
              </a:ext>
            </a:extLst>
          </p:cNvPr>
          <p:cNvSpPr>
            <a:spLocks noGrp="1"/>
          </p:cNvSpPr>
          <p:nvPr>
            <p:ph type="title"/>
          </p:nvPr>
        </p:nvSpPr>
        <p:spPr>
          <a:xfrm>
            <a:off x="727364" y="198870"/>
            <a:ext cx="10515600" cy="494411"/>
          </a:xfrm>
        </p:spPr>
        <p:txBody>
          <a:bodyPr>
            <a:normAutofit fontScale="90000"/>
          </a:bodyPr>
          <a:lstStyle/>
          <a:p>
            <a:r>
              <a:rPr lang="en-US" dirty="0"/>
              <a:t>Field Technician’s Feedback on Good vs Bad Brake</a:t>
            </a:r>
          </a:p>
        </p:txBody>
      </p:sp>
      <p:pic>
        <p:nvPicPr>
          <p:cNvPr id="4" name="Content Placeholder 3">
            <a:extLst>
              <a:ext uri="{FF2B5EF4-FFF2-40B4-BE49-F238E27FC236}">
                <a16:creationId xmlns:a16="http://schemas.microsoft.com/office/drawing/2014/main" id="{80A7ED35-560A-243C-107C-E59F1A8B0008}"/>
              </a:ext>
            </a:extLst>
          </p:cNvPr>
          <p:cNvPicPr>
            <a:picLocks noGrp="1" noChangeAspect="1"/>
          </p:cNvPicPr>
          <p:nvPr>
            <p:ph sz="quarter" idx="12"/>
          </p:nvPr>
        </p:nvPicPr>
        <p:blipFill>
          <a:blip r:embed="rId2"/>
          <a:stretch>
            <a:fillRect/>
          </a:stretch>
        </p:blipFill>
        <p:spPr bwMode="auto">
          <a:xfrm>
            <a:off x="1103745" y="693281"/>
            <a:ext cx="9984509" cy="5498463"/>
          </a:xfrm>
          <a:prstGeom prst="rect">
            <a:avLst/>
          </a:prstGeom>
          <a:noFill/>
          <a:ln w="9525">
            <a:noFill/>
            <a:miter lim="800000"/>
            <a:headEnd/>
            <a:tailEnd/>
          </a:ln>
        </p:spPr>
      </p:pic>
    </p:spTree>
    <p:extLst>
      <p:ext uri="{BB962C8B-B14F-4D97-AF65-F5344CB8AC3E}">
        <p14:creationId xmlns:p14="http://schemas.microsoft.com/office/powerpoint/2010/main" val="3618452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3B24-A8C1-CF6A-501C-BC49689AB3A1}"/>
              </a:ext>
            </a:extLst>
          </p:cNvPr>
          <p:cNvSpPr>
            <a:spLocks noGrp="1"/>
          </p:cNvSpPr>
          <p:nvPr>
            <p:ph type="title"/>
          </p:nvPr>
        </p:nvSpPr>
        <p:spPr>
          <a:xfrm>
            <a:off x="838200" y="171450"/>
            <a:ext cx="10515600" cy="676275"/>
          </a:xfrm>
        </p:spPr>
        <p:txBody>
          <a:bodyPr>
            <a:normAutofit fontScale="90000"/>
          </a:bodyPr>
          <a:lstStyle/>
          <a:p>
            <a:r>
              <a:rPr lang="en-US" dirty="0"/>
              <a:t>Braking Method</a:t>
            </a:r>
          </a:p>
        </p:txBody>
      </p:sp>
      <p:pic>
        <p:nvPicPr>
          <p:cNvPr id="5122" name="Picture 2" descr="Fig. 3">
            <a:extLst>
              <a:ext uri="{FF2B5EF4-FFF2-40B4-BE49-F238E27FC236}">
                <a16:creationId xmlns:a16="http://schemas.microsoft.com/office/drawing/2014/main" id="{48E280FA-9B52-5183-1D2E-EA72D6A297D5}"/>
              </a:ext>
            </a:extLst>
          </p:cNvPr>
          <p:cNvPicPr>
            <a:picLocks noGrp="1" noChangeAspect="1" noChangeArrowheads="1"/>
          </p:cNvPicPr>
          <p:nvPr>
            <p:ph sz="quarter" idx="12"/>
          </p:nvPr>
        </p:nvPicPr>
        <p:blipFill>
          <a:blip r:embed="rId2">
            <a:extLst>
              <a:ext uri="{28A0092B-C50C-407E-A947-70E740481C1C}">
                <a14:useLocalDpi xmlns:a14="http://schemas.microsoft.com/office/drawing/2010/main" val="0"/>
              </a:ext>
            </a:extLst>
          </a:blip>
          <a:srcRect/>
          <a:stretch>
            <a:fillRect/>
          </a:stretch>
        </p:blipFill>
        <p:spPr bwMode="auto">
          <a:xfrm>
            <a:off x="2397604" y="941388"/>
            <a:ext cx="7366630" cy="490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82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CC7-A1D7-662E-EE59-344FAAC2ECF1}"/>
              </a:ext>
            </a:extLst>
          </p:cNvPr>
          <p:cNvSpPr>
            <a:spLocks noGrp="1"/>
          </p:cNvSpPr>
          <p:nvPr>
            <p:ph type="title"/>
          </p:nvPr>
        </p:nvSpPr>
        <p:spPr>
          <a:xfrm>
            <a:off x="838200" y="195222"/>
            <a:ext cx="10515600" cy="632762"/>
          </a:xfrm>
        </p:spPr>
        <p:txBody>
          <a:bodyPr anchor="t" anchorCtr="0">
            <a:normAutofit fontScale="90000"/>
          </a:bodyPr>
          <a:lstStyle/>
          <a:p>
            <a:r>
              <a:rPr lang="en-US" dirty="0"/>
              <a:t>Select the right operating condition for Braking</a:t>
            </a:r>
          </a:p>
        </p:txBody>
      </p:sp>
      <p:sp>
        <p:nvSpPr>
          <p:cNvPr id="3" name="Content Placeholder 2">
            <a:extLst>
              <a:ext uri="{FF2B5EF4-FFF2-40B4-BE49-F238E27FC236}">
                <a16:creationId xmlns:a16="http://schemas.microsoft.com/office/drawing/2014/main" id="{766A7A33-FB7F-C95B-7E63-F2FFEADB29B9}"/>
              </a:ext>
            </a:extLst>
          </p:cNvPr>
          <p:cNvSpPr>
            <a:spLocks noGrp="1"/>
          </p:cNvSpPr>
          <p:nvPr>
            <p:ph idx="1"/>
          </p:nvPr>
        </p:nvSpPr>
        <p:spPr>
          <a:xfrm>
            <a:off x="838200" y="1825625"/>
            <a:ext cx="10515600" cy="4351338"/>
          </a:xfrm>
        </p:spPr>
        <p:txBody>
          <a:bodyPr>
            <a:normAutofit fontScale="85000" lnSpcReduction="20000"/>
          </a:bodyPr>
          <a:lstStyle/>
          <a:p>
            <a:r>
              <a:rPr lang="en-US" dirty="0"/>
              <a:t>Driver intent</a:t>
            </a:r>
          </a:p>
          <a:p>
            <a:pPr lvl="1"/>
            <a:r>
              <a:rPr lang="en-US" dirty="0" err="1"/>
              <a:t>AccelPedalPos</a:t>
            </a:r>
            <a:r>
              <a:rPr lang="en-US" dirty="0"/>
              <a:t> ≤ 2% (or _1587)</a:t>
            </a:r>
          </a:p>
          <a:p>
            <a:pPr lvl="1"/>
            <a:r>
              <a:rPr lang="en-US" dirty="0" err="1"/>
              <a:t>EngPctTorq</a:t>
            </a:r>
            <a:r>
              <a:rPr lang="en-US" dirty="0"/>
              <a:t> ≤ 5% (or </a:t>
            </a:r>
            <a:r>
              <a:rPr lang="en-US" dirty="0" err="1"/>
              <a:t>EngDmdPctTorq</a:t>
            </a:r>
            <a:r>
              <a:rPr lang="en-US" dirty="0"/>
              <a:t> ≈ 0)</a:t>
            </a:r>
          </a:p>
          <a:p>
            <a:r>
              <a:rPr lang="en-US" dirty="0"/>
              <a:t>Powertrain state</a:t>
            </a:r>
          </a:p>
          <a:p>
            <a:pPr lvl="1"/>
            <a:r>
              <a:rPr lang="en-US" dirty="0"/>
              <a:t>EngRetarderStat_1587 == 1</a:t>
            </a:r>
          </a:p>
          <a:p>
            <a:pPr lvl="1"/>
            <a:r>
              <a:rPr lang="en-US" dirty="0" err="1"/>
              <a:t>TransTorqConvLockupEngaged</a:t>
            </a:r>
            <a:r>
              <a:rPr lang="en-US" dirty="0"/>
              <a:t> == 1</a:t>
            </a:r>
          </a:p>
          <a:p>
            <a:r>
              <a:rPr lang="en-US" dirty="0"/>
              <a:t>Kinematics</a:t>
            </a:r>
          </a:p>
          <a:p>
            <a:pPr lvl="1"/>
            <a:r>
              <a:rPr lang="en-US" dirty="0" err="1"/>
              <a:t>EngSpeed</a:t>
            </a:r>
            <a:r>
              <a:rPr lang="en-US" dirty="0"/>
              <a:t> ∈ [1400, 2200] RPM</a:t>
            </a:r>
          </a:p>
          <a:p>
            <a:pPr lvl="1"/>
            <a:r>
              <a:rPr lang="en-US" dirty="0" err="1"/>
              <a:t>VehSpeedEng</a:t>
            </a:r>
            <a:r>
              <a:rPr lang="en-US" dirty="0"/>
              <a:t> ∈ [20, 60] mph</a:t>
            </a:r>
          </a:p>
          <a:p>
            <a:pPr lvl="1"/>
            <a:r>
              <a:rPr lang="en-US" dirty="0" err="1"/>
              <a:t>TrRgAttai</a:t>
            </a:r>
            <a:r>
              <a:rPr lang="en-US" dirty="0"/>
              <a:t> stable (no gear change in window)</a:t>
            </a:r>
          </a:p>
          <a:p>
            <a:r>
              <a:rPr lang="en-US" dirty="0"/>
              <a:t>Exclusions</a:t>
            </a:r>
          </a:p>
          <a:p>
            <a:pPr lvl="1"/>
            <a:r>
              <a:rPr lang="en-US" dirty="0" err="1"/>
              <a:t>BrakeSwitch</a:t>
            </a:r>
            <a:r>
              <a:rPr lang="en-US" dirty="0"/>
              <a:t> == 0 (optional)</a:t>
            </a:r>
          </a:p>
          <a:p>
            <a:pPr lvl="1"/>
            <a:r>
              <a:rPr lang="en-US" dirty="0"/>
              <a:t>ABS flags OFF (ABS_RetCont_1587 == 0, etc.)</a:t>
            </a:r>
          </a:p>
          <a:p>
            <a:endParaRPr lang="en-US" dirty="0"/>
          </a:p>
        </p:txBody>
      </p:sp>
      <p:sp>
        <p:nvSpPr>
          <p:cNvPr id="8" name="TextBox 7">
            <a:extLst>
              <a:ext uri="{FF2B5EF4-FFF2-40B4-BE49-F238E27FC236}">
                <a16:creationId xmlns:a16="http://schemas.microsoft.com/office/drawing/2014/main" id="{EF11C383-5860-4826-419D-F162B813F521}"/>
              </a:ext>
            </a:extLst>
          </p:cNvPr>
          <p:cNvSpPr txBox="1"/>
          <p:nvPr/>
        </p:nvSpPr>
        <p:spPr>
          <a:xfrm>
            <a:off x="2006774" y="983948"/>
            <a:ext cx="7615084" cy="369332"/>
          </a:xfrm>
          <a:prstGeom prst="rect">
            <a:avLst/>
          </a:prstGeom>
          <a:noFill/>
        </p:spPr>
        <p:txBody>
          <a:bodyPr wrap="square">
            <a:spAutoFit/>
          </a:bodyPr>
          <a:lstStyle/>
          <a:p>
            <a:r>
              <a:rPr lang="en-US" dirty="0"/>
              <a:t>Use </a:t>
            </a:r>
            <a:r>
              <a:rPr lang="en-US" b="1" dirty="0"/>
              <a:t>event samples</a:t>
            </a:r>
            <a:r>
              <a:rPr lang="en-US" dirty="0"/>
              <a:t> (not raw time series) and filter to rows where:</a:t>
            </a:r>
          </a:p>
        </p:txBody>
      </p:sp>
      <p:sp>
        <p:nvSpPr>
          <p:cNvPr id="12" name="TextBox 11">
            <a:extLst>
              <a:ext uri="{FF2B5EF4-FFF2-40B4-BE49-F238E27FC236}">
                <a16:creationId xmlns:a16="http://schemas.microsoft.com/office/drawing/2014/main" id="{52189286-1CF9-1F22-A601-0DDB06201695}"/>
              </a:ext>
            </a:extLst>
          </p:cNvPr>
          <p:cNvSpPr txBox="1"/>
          <p:nvPr/>
        </p:nvSpPr>
        <p:spPr>
          <a:xfrm>
            <a:off x="7605251" y="2992829"/>
            <a:ext cx="2964426" cy="646331"/>
          </a:xfrm>
          <a:prstGeom prst="rect">
            <a:avLst/>
          </a:prstGeom>
          <a:solidFill>
            <a:schemeClr val="accent2"/>
          </a:solidFill>
        </p:spPr>
        <p:txBody>
          <a:bodyPr wrap="square">
            <a:spAutoFit/>
          </a:bodyPr>
          <a:lstStyle/>
          <a:p>
            <a:r>
              <a:rPr lang="en-US" dirty="0"/>
              <a:t>This isolates “engine-driven exhaust braking only”</a:t>
            </a:r>
          </a:p>
        </p:txBody>
      </p:sp>
    </p:spTree>
    <p:extLst>
      <p:ext uri="{BB962C8B-B14F-4D97-AF65-F5344CB8AC3E}">
        <p14:creationId xmlns:p14="http://schemas.microsoft.com/office/powerpoint/2010/main" val="210528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B7DC-3F25-43EE-8237-9D939544A8B4}"/>
              </a:ext>
            </a:extLst>
          </p:cNvPr>
          <p:cNvSpPr>
            <a:spLocks noGrp="1"/>
          </p:cNvSpPr>
          <p:nvPr>
            <p:ph type="title"/>
          </p:nvPr>
        </p:nvSpPr>
        <p:spPr>
          <a:xfrm>
            <a:off x="277761" y="129905"/>
            <a:ext cx="10515600" cy="1325563"/>
          </a:xfrm>
        </p:spPr>
        <p:txBody>
          <a:bodyPr>
            <a:normAutofit/>
          </a:bodyPr>
          <a:lstStyle/>
          <a:p>
            <a:r>
              <a:rPr lang="en-US" sz="3600" dirty="0"/>
              <a:t>Signals</a:t>
            </a:r>
          </a:p>
        </p:txBody>
      </p:sp>
      <p:sp>
        <p:nvSpPr>
          <p:cNvPr id="3" name="Footer Placeholder 2">
            <a:extLst>
              <a:ext uri="{FF2B5EF4-FFF2-40B4-BE49-F238E27FC236}">
                <a16:creationId xmlns:a16="http://schemas.microsoft.com/office/drawing/2014/main" id="{6C0446C4-2AD5-4568-8EB0-1EC12F17D22F}"/>
              </a:ext>
            </a:extLst>
          </p:cNvPr>
          <p:cNvSpPr>
            <a:spLocks noGrp="1"/>
          </p:cNvSpPr>
          <p:nvPr>
            <p:ph type="ftr" sz="quarter" idx="10"/>
          </p:nvPr>
        </p:nvSpPr>
        <p:spPr/>
        <p:txBody>
          <a:bodyPr/>
          <a:lstStyle/>
          <a:p>
            <a:r>
              <a:rPr lang="pt-BR"/>
              <a:t>C O N F I D E N T I A L</a:t>
            </a:r>
            <a:endParaRPr lang="en-US"/>
          </a:p>
        </p:txBody>
      </p:sp>
      <p:sp>
        <p:nvSpPr>
          <p:cNvPr id="4" name="Slide Number Placeholder 3">
            <a:extLst>
              <a:ext uri="{FF2B5EF4-FFF2-40B4-BE49-F238E27FC236}">
                <a16:creationId xmlns:a16="http://schemas.microsoft.com/office/drawing/2014/main" id="{B9372EE3-69F6-4902-A2BC-00BC6D0989F5}"/>
              </a:ext>
            </a:extLst>
          </p:cNvPr>
          <p:cNvSpPr>
            <a:spLocks noGrp="1"/>
          </p:cNvSpPr>
          <p:nvPr>
            <p:ph type="sldNum" sz="quarter" idx="11"/>
          </p:nvPr>
        </p:nvSpPr>
        <p:spPr/>
        <p:txBody>
          <a:bodyPr/>
          <a:lstStyle/>
          <a:p>
            <a:fld id="{05298CB1-4000-4C34-8BE7-DC1D93D92EBB}" type="slidenum">
              <a:rPr lang="en-US" smtClean="0"/>
              <a:pPr/>
              <a:t>7</a:t>
            </a:fld>
            <a:endParaRPr lang="en-US"/>
          </a:p>
        </p:txBody>
      </p:sp>
      <p:pic>
        <p:nvPicPr>
          <p:cNvPr id="7" name="Content Placeholder 6">
            <a:extLst>
              <a:ext uri="{FF2B5EF4-FFF2-40B4-BE49-F238E27FC236}">
                <a16:creationId xmlns:a16="http://schemas.microsoft.com/office/drawing/2014/main" id="{A0708DFD-DE3B-4836-B46C-49DA5CF21BC8}"/>
              </a:ext>
            </a:extLst>
          </p:cNvPr>
          <p:cNvPicPr>
            <a:picLocks noGrp="1" noChangeAspect="1"/>
          </p:cNvPicPr>
          <p:nvPr>
            <p:ph sz="quarter" idx="12"/>
          </p:nvPr>
        </p:nvPicPr>
        <p:blipFill>
          <a:blip r:embed="rId2"/>
          <a:stretch>
            <a:fillRect/>
          </a:stretch>
        </p:blipFill>
        <p:spPr>
          <a:xfrm>
            <a:off x="1675650" y="735166"/>
            <a:ext cx="6624972" cy="5716981"/>
          </a:xfrm>
        </p:spPr>
      </p:pic>
      <p:sp>
        <p:nvSpPr>
          <p:cNvPr id="8" name="TextBox 7">
            <a:extLst>
              <a:ext uri="{FF2B5EF4-FFF2-40B4-BE49-F238E27FC236}">
                <a16:creationId xmlns:a16="http://schemas.microsoft.com/office/drawing/2014/main" id="{C323518D-F0F8-4DA9-A4DD-F45D68EB905E}"/>
              </a:ext>
            </a:extLst>
          </p:cNvPr>
          <p:cNvSpPr txBox="1"/>
          <p:nvPr/>
        </p:nvSpPr>
        <p:spPr>
          <a:xfrm>
            <a:off x="3344731" y="37389"/>
            <a:ext cx="6168355" cy="553998"/>
          </a:xfrm>
          <a:prstGeom prst="rect">
            <a:avLst/>
          </a:prstGeom>
          <a:noFill/>
        </p:spPr>
        <p:txBody>
          <a:bodyPr wrap="none" lIns="0" tIns="0" rIns="0" bIns="0" rtlCol="0">
            <a:spAutoFit/>
          </a:bodyPr>
          <a:lstStyle/>
          <a:p>
            <a:pPr algn="ctr"/>
            <a:r>
              <a:rPr lang="en-US" dirty="0"/>
              <a:t>During the failure of the valve, the change in speed is slower</a:t>
            </a:r>
          </a:p>
          <a:p>
            <a:pPr algn="ctr"/>
            <a:r>
              <a:rPr lang="en-US" dirty="0"/>
              <a:t>Especially at 40mph</a:t>
            </a:r>
          </a:p>
        </p:txBody>
      </p:sp>
      <p:cxnSp>
        <p:nvCxnSpPr>
          <p:cNvPr id="10" name="Connector: Elbow 9">
            <a:extLst>
              <a:ext uri="{FF2B5EF4-FFF2-40B4-BE49-F238E27FC236}">
                <a16:creationId xmlns:a16="http://schemas.microsoft.com/office/drawing/2014/main" id="{77A3F420-1A65-4CBA-AA03-9CAB9B3F1EF1}"/>
              </a:ext>
            </a:extLst>
          </p:cNvPr>
          <p:cNvCxnSpPr>
            <a:cxnSpLocks/>
          </p:cNvCxnSpPr>
          <p:nvPr/>
        </p:nvCxnSpPr>
        <p:spPr>
          <a:xfrm rot="5400000">
            <a:off x="4408023" y="641273"/>
            <a:ext cx="752968" cy="5493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C2F1792-0016-4F50-8E5B-8573C594F229}"/>
              </a:ext>
            </a:extLst>
          </p:cNvPr>
          <p:cNvCxnSpPr/>
          <p:nvPr/>
        </p:nvCxnSpPr>
        <p:spPr>
          <a:xfrm>
            <a:off x="1908699" y="1775534"/>
            <a:ext cx="1819922"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35566BA-64A5-4912-A74F-DB42C82930C8}"/>
              </a:ext>
            </a:extLst>
          </p:cNvPr>
          <p:cNvSpPr txBox="1"/>
          <p:nvPr/>
        </p:nvSpPr>
        <p:spPr>
          <a:xfrm>
            <a:off x="943010" y="1526919"/>
            <a:ext cx="963405" cy="369332"/>
          </a:xfrm>
          <a:prstGeom prst="rect">
            <a:avLst/>
          </a:prstGeom>
          <a:noFill/>
        </p:spPr>
        <p:txBody>
          <a:bodyPr wrap="none" lIns="0" tIns="0" rIns="0" bIns="0" rtlCol="0">
            <a:spAutoFit/>
          </a:bodyPr>
          <a:lstStyle/>
          <a:p>
            <a:pPr algn="l"/>
            <a:r>
              <a:rPr lang="en-US" sz="1200" dirty="0">
                <a:solidFill>
                  <a:srgbClr val="FF0000"/>
                </a:solidFill>
              </a:rPr>
              <a:t>Engine </a:t>
            </a:r>
          </a:p>
          <a:p>
            <a:pPr algn="l"/>
            <a:r>
              <a:rPr lang="en-US" sz="1200" dirty="0">
                <a:solidFill>
                  <a:srgbClr val="FF0000"/>
                </a:solidFill>
              </a:rPr>
              <a:t>Retarder is on</a:t>
            </a:r>
          </a:p>
        </p:txBody>
      </p:sp>
      <p:sp>
        <p:nvSpPr>
          <p:cNvPr id="16" name="TextBox 15">
            <a:extLst>
              <a:ext uri="{FF2B5EF4-FFF2-40B4-BE49-F238E27FC236}">
                <a16:creationId xmlns:a16="http://schemas.microsoft.com/office/drawing/2014/main" id="{3D7FA8C1-DB03-46B8-B0F1-57EBA30F899C}"/>
              </a:ext>
            </a:extLst>
          </p:cNvPr>
          <p:cNvSpPr txBox="1"/>
          <p:nvPr/>
        </p:nvSpPr>
        <p:spPr>
          <a:xfrm>
            <a:off x="446732" y="2005465"/>
            <a:ext cx="1725197" cy="484748"/>
          </a:xfrm>
          <a:prstGeom prst="rect">
            <a:avLst/>
          </a:prstGeom>
          <a:noFill/>
        </p:spPr>
        <p:txBody>
          <a:bodyPr wrap="square" lIns="0" tIns="0" rIns="0" bIns="0" rtlCol="0">
            <a:spAutoFit/>
          </a:bodyPr>
          <a:lstStyle/>
          <a:p>
            <a:r>
              <a:rPr lang="en-US" sz="1050" dirty="0">
                <a:solidFill>
                  <a:srgbClr val="92D050"/>
                </a:solidFill>
              </a:rPr>
              <a:t>Exhaust back pressure</a:t>
            </a:r>
          </a:p>
          <a:p>
            <a:r>
              <a:rPr lang="en-US" sz="1050" dirty="0">
                <a:solidFill>
                  <a:srgbClr val="92D050"/>
                </a:solidFill>
              </a:rPr>
              <a:t>Is budling up and then </a:t>
            </a:r>
          </a:p>
          <a:p>
            <a:r>
              <a:rPr lang="en-US" sz="1050" dirty="0">
                <a:solidFill>
                  <a:srgbClr val="92D050"/>
                </a:solidFill>
              </a:rPr>
              <a:t>reduces due to zero fuel</a:t>
            </a:r>
          </a:p>
        </p:txBody>
      </p:sp>
      <p:cxnSp>
        <p:nvCxnSpPr>
          <p:cNvPr id="18" name="Straight Arrow Connector 17">
            <a:extLst>
              <a:ext uri="{FF2B5EF4-FFF2-40B4-BE49-F238E27FC236}">
                <a16:creationId xmlns:a16="http://schemas.microsoft.com/office/drawing/2014/main" id="{679DCEA9-ED66-4B17-9786-59B9255373B8}"/>
              </a:ext>
            </a:extLst>
          </p:cNvPr>
          <p:cNvCxnSpPr>
            <a:cxnSpLocks/>
          </p:cNvCxnSpPr>
          <p:nvPr/>
        </p:nvCxnSpPr>
        <p:spPr>
          <a:xfrm flipV="1">
            <a:off x="1917415" y="2219531"/>
            <a:ext cx="1811206" cy="5845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A105414A-933C-4723-8C6D-E8ABBE3241EE}"/>
              </a:ext>
            </a:extLst>
          </p:cNvPr>
          <p:cNvPicPr>
            <a:picLocks noChangeAspect="1"/>
          </p:cNvPicPr>
          <p:nvPr/>
        </p:nvPicPr>
        <p:blipFill>
          <a:blip r:embed="rId3"/>
          <a:stretch>
            <a:fillRect/>
          </a:stretch>
        </p:blipFill>
        <p:spPr>
          <a:xfrm>
            <a:off x="9254122" y="360459"/>
            <a:ext cx="2237804" cy="5708455"/>
          </a:xfrm>
          <a:prstGeom prst="rect">
            <a:avLst/>
          </a:prstGeom>
        </p:spPr>
      </p:pic>
      <p:sp>
        <p:nvSpPr>
          <p:cNvPr id="25" name="Rectangle 24">
            <a:extLst>
              <a:ext uri="{FF2B5EF4-FFF2-40B4-BE49-F238E27FC236}">
                <a16:creationId xmlns:a16="http://schemas.microsoft.com/office/drawing/2014/main" id="{19E9BFC9-FAC9-4FD2-91CD-126903FDDD38}"/>
              </a:ext>
            </a:extLst>
          </p:cNvPr>
          <p:cNvSpPr/>
          <p:nvPr/>
        </p:nvSpPr>
        <p:spPr>
          <a:xfrm>
            <a:off x="3442447" y="632106"/>
            <a:ext cx="1067410" cy="58200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26" name="TextBox 25">
            <a:extLst>
              <a:ext uri="{FF2B5EF4-FFF2-40B4-BE49-F238E27FC236}">
                <a16:creationId xmlns:a16="http://schemas.microsoft.com/office/drawing/2014/main" id="{F1F66581-4FE6-4D07-B33B-CFC5F94C0AC3}"/>
              </a:ext>
            </a:extLst>
          </p:cNvPr>
          <p:cNvSpPr txBox="1"/>
          <p:nvPr/>
        </p:nvSpPr>
        <p:spPr>
          <a:xfrm>
            <a:off x="152144" y="5084896"/>
            <a:ext cx="1581733" cy="830997"/>
          </a:xfrm>
          <a:prstGeom prst="rect">
            <a:avLst/>
          </a:prstGeom>
          <a:solidFill>
            <a:srgbClr val="FFC000"/>
          </a:solidFill>
        </p:spPr>
        <p:txBody>
          <a:bodyPr wrap="square" lIns="0" tIns="0" rIns="0" bIns="0" rtlCol="0">
            <a:spAutoFit/>
          </a:bodyPr>
          <a:lstStyle/>
          <a:p>
            <a:pPr algn="ctr"/>
            <a:r>
              <a:rPr lang="en-US" dirty="0"/>
              <a:t>Details in this window</a:t>
            </a:r>
          </a:p>
          <a:p>
            <a:pPr algn="ctr"/>
            <a:r>
              <a:rPr lang="en-US" dirty="0"/>
              <a:t> of data</a:t>
            </a:r>
          </a:p>
        </p:txBody>
      </p:sp>
      <p:cxnSp>
        <p:nvCxnSpPr>
          <p:cNvPr id="28" name="Straight Arrow Connector 27">
            <a:extLst>
              <a:ext uri="{FF2B5EF4-FFF2-40B4-BE49-F238E27FC236}">
                <a16:creationId xmlns:a16="http://schemas.microsoft.com/office/drawing/2014/main" id="{E3CDA8E8-E5A1-4AB2-A1BE-C770B25760EA}"/>
              </a:ext>
            </a:extLst>
          </p:cNvPr>
          <p:cNvCxnSpPr>
            <a:cxnSpLocks/>
            <a:stCxn id="26" idx="3"/>
          </p:cNvCxnSpPr>
          <p:nvPr/>
        </p:nvCxnSpPr>
        <p:spPr>
          <a:xfrm>
            <a:off x="1733877" y="5500395"/>
            <a:ext cx="1708570" cy="622439"/>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B7FEC7-A027-44DF-8ED2-AC9CDB761760}"/>
              </a:ext>
            </a:extLst>
          </p:cNvPr>
          <p:cNvSpPr txBox="1"/>
          <p:nvPr/>
        </p:nvSpPr>
        <p:spPr>
          <a:xfrm>
            <a:off x="3655918" y="2501383"/>
            <a:ext cx="761427" cy="215444"/>
          </a:xfrm>
          <a:prstGeom prst="rect">
            <a:avLst/>
          </a:prstGeom>
          <a:noFill/>
        </p:spPr>
        <p:txBody>
          <a:bodyPr wrap="none" lIns="0" tIns="0" rIns="0" bIns="0" rtlCol="0">
            <a:spAutoFit/>
          </a:bodyPr>
          <a:lstStyle/>
          <a:p>
            <a:pPr algn="l"/>
            <a:r>
              <a:rPr lang="en-US" sz="1400" dirty="0"/>
              <a:t>Pedal = 0</a:t>
            </a:r>
          </a:p>
        </p:txBody>
      </p:sp>
      <p:sp>
        <p:nvSpPr>
          <p:cNvPr id="32" name="TextBox 31">
            <a:extLst>
              <a:ext uri="{FF2B5EF4-FFF2-40B4-BE49-F238E27FC236}">
                <a16:creationId xmlns:a16="http://schemas.microsoft.com/office/drawing/2014/main" id="{CB2F5A6E-B785-4FBE-8BEF-3AC98CDA3FC6}"/>
              </a:ext>
            </a:extLst>
          </p:cNvPr>
          <p:cNvSpPr txBox="1"/>
          <p:nvPr/>
        </p:nvSpPr>
        <p:spPr>
          <a:xfrm>
            <a:off x="4063508" y="1560090"/>
            <a:ext cx="468077" cy="161583"/>
          </a:xfrm>
          <a:prstGeom prst="rect">
            <a:avLst/>
          </a:prstGeom>
          <a:noFill/>
        </p:spPr>
        <p:txBody>
          <a:bodyPr wrap="none" lIns="0" tIns="0" rIns="0" bIns="0" rtlCol="0">
            <a:spAutoFit/>
          </a:bodyPr>
          <a:lstStyle/>
          <a:p>
            <a:pPr algn="l"/>
            <a:r>
              <a:rPr lang="en-US" sz="1050" dirty="0"/>
              <a:t>State=1</a:t>
            </a:r>
          </a:p>
        </p:txBody>
      </p:sp>
      <p:sp>
        <p:nvSpPr>
          <p:cNvPr id="36" name="TextBox 35">
            <a:extLst>
              <a:ext uri="{FF2B5EF4-FFF2-40B4-BE49-F238E27FC236}">
                <a16:creationId xmlns:a16="http://schemas.microsoft.com/office/drawing/2014/main" id="{6BD1FA5C-42DB-4A0B-97C0-C0C8151C0CB2}"/>
              </a:ext>
            </a:extLst>
          </p:cNvPr>
          <p:cNvSpPr txBox="1"/>
          <p:nvPr/>
        </p:nvSpPr>
        <p:spPr>
          <a:xfrm>
            <a:off x="3595438" y="4033452"/>
            <a:ext cx="650819" cy="215444"/>
          </a:xfrm>
          <a:prstGeom prst="rect">
            <a:avLst/>
          </a:prstGeom>
          <a:noFill/>
        </p:spPr>
        <p:txBody>
          <a:bodyPr wrap="none" lIns="0" tIns="0" rIns="0" bIns="0" rtlCol="0">
            <a:spAutoFit/>
          </a:bodyPr>
          <a:lstStyle/>
          <a:p>
            <a:pPr algn="l"/>
            <a:r>
              <a:rPr lang="en-US" sz="1400" dirty="0"/>
              <a:t>Fuel ~ 0</a:t>
            </a:r>
          </a:p>
        </p:txBody>
      </p:sp>
      <p:sp>
        <p:nvSpPr>
          <p:cNvPr id="37" name="TextBox 36">
            <a:extLst>
              <a:ext uri="{FF2B5EF4-FFF2-40B4-BE49-F238E27FC236}">
                <a16:creationId xmlns:a16="http://schemas.microsoft.com/office/drawing/2014/main" id="{9603882F-80D3-4913-9C62-DA0337463D3B}"/>
              </a:ext>
            </a:extLst>
          </p:cNvPr>
          <p:cNvSpPr txBox="1"/>
          <p:nvPr/>
        </p:nvSpPr>
        <p:spPr>
          <a:xfrm>
            <a:off x="3488744" y="4796213"/>
            <a:ext cx="1021113" cy="161583"/>
          </a:xfrm>
          <a:prstGeom prst="rect">
            <a:avLst/>
          </a:prstGeom>
          <a:noFill/>
        </p:spPr>
        <p:txBody>
          <a:bodyPr wrap="none" lIns="0" tIns="0" rIns="0" bIns="0" rtlCol="0">
            <a:spAutoFit/>
          </a:bodyPr>
          <a:lstStyle/>
          <a:p>
            <a:pPr algn="l"/>
            <a:r>
              <a:rPr lang="en-US" sz="1050" dirty="0"/>
              <a:t>Rpm slows down</a:t>
            </a:r>
          </a:p>
        </p:txBody>
      </p:sp>
      <p:sp>
        <p:nvSpPr>
          <p:cNvPr id="40" name="TextBox 39">
            <a:extLst>
              <a:ext uri="{FF2B5EF4-FFF2-40B4-BE49-F238E27FC236}">
                <a16:creationId xmlns:a16="http://schemas.microsoft.com/office/drawing/2014/main" id="{4E81A6AD-2ACE-4BCC-9F32-66369AE1C5DE}"/>
              </a:ext>
            </a:extLst>
          </p:cNvPr>
          <p:cNvSpPr txBox="1"/>
          <p:nvPr/>
        </p:nvSpPr>
        <p:spPr>
          <a:xfrm>
            <a:off x="3800553" y="5170920"/>
            <a:ext cx="506549" cy="161583"/>
          </a:xfrm>
          <a:prstGeom prst="rect">
            <a:avLst/>
          </a:prstGeom>
          <a:noFill/>
        </p:spPr>
        <p:txBody>
          <a:bodyPr wrap="none" lIns="0" tIns="0" rIns="0" bIns="0" rtlCol="0">
            <a:spAutoFit/>
          </a:bodyPr>
          <a:lstStyle/>
          <a:p>
            <a:pPr algn="l"/>
            <a:r>
              <a:rPr lang="en-US" sz="1050" dirty="0" err="1"/>
              <a:t>Torqe</a:t>
            </a:r>
            <a:r>
              <a:rPr lang="en-US" sz="1050" dirty="0"/>
              <a:t>=0</a:t>
            </a:r>
          </a:p>
        </p:txBody>
      </p:sp>
    </p:spTree>
    <p:extLst>
      <p:ext uri="{BB962C8B-B14F-4D97-AF65-F5344CB8AC3E}">
        <p14:creationId xmlns:p14="http://schemas.microsoft.com/office/powerpoint/2010/main" val="1242141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E02A-A315-1AA0-C886-9653841A2155}"/>
              </a:ext>
            </a:extLst>
          </p:cNvPr>
          <p:cNvSpPr>
            <a:spLocks noGrp="1"/>
          </p:cNvSpPr>
          <p:nvPr>
            <p:ph type="title"/>
          </p:nvPr>
        </p:nvSpPr>
        <p:spPr>
          <a:xfrm>
            <a:off x="823120" y="163957"/>
            <a:ext cx="10515600" cy="457835"/>
          </a:xfrm>
        </p:spPr>
        <p:txBody>
          <a:bodyPr>
            <a:normAutofit fontScale="90000"/>
          </a:bodyPr>
          <a:lstStyle/>
          <a:p>
            <a:r>
              <a:rPr lang="en-US" dirty="0"/>
              <a:t>EDA</a:t>
            </a:r>
          </a:p>
        </p:txBody>
      </p:sp>
      <p:pic>
        <p:nvPicPr>
          <p:cNvPr id="3" name="Picture 2">
            <a:extLst>
              <a:ext uri="{FF2B5EF4-FFF2-40B4-BE49-F238E27FC236}">
                <a16:creationId xmlns:a16="http://schemas.microsoft.com/office/drawing/2014/main" id="{0A11F2CA-3DA9-0DB2-2926-A5F37E18DF4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5136" y="163956"/>
            <a:ext cx="8027543" cy="6280271"/>
          </a:xfrm>
          <a:prstGeom prst="rect">
            <a:avLst/>
          </a:prstGeom>
          <a:noFill/>
        </p:spPr>
      </p:pic>
    </p:spTree>
    <p:extLst>
      <p:ext uri="{BB962C8B-B14F-4D97-AF65-F5344CB8AC3E}">
        <p14:creationId xmlns:p14="http://schemas.microsoft.com/office/powerpoint/2010/main" val="3458134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t="52241" r="44159" b="-582"/>
          <a:stretch/>
        </p:blipFill>
        <p:spPr>
          <a:xfrm>
            <a:off x="6376852" y="1110344"/>
            <a:ext cx="4291148" cy="2527663"/>
          </a:xfrm>
          <a:prstGeom prst="rect">
            <a:avLst/>
          </a:prstGeom>
        </p:spPr>
      </p:pic>
      <p:pic>
        <p:nvPicPr>
          <p:cNvPr id="4" name="Picture 3"/>
          <p:cNvPicPr>
            <a:picLocks noChangeAspect="1"/>
          </p:cNvPicPr>
          <p:nvPr/>
        </p:nvPicPr>
        <p:blipFill rotWithShape="1">
          <a:blip r:embed="rId3"/>
          <a:srcRect t="51572" r="46452"/>
          <a:stretch/>
        </p:blipFill>
        <p:spPr>
          <a:xfrm>
            <a:off x="6271763" y="3879670"/>
            <a:ext cx="4298267" cy="2566851"/>
          </a:xfrm>
          <a:prstGeom prst="rect">
            <a:avLst/>
          </a:prstGeom>
        </p:spPr>
      </p:pic>
      <p:sp>
        <p:nvSpPr>
          <p:cNvPr id="5" name="TextBox 4"/>
          <p:cNvSpPr txBox="1"/>
          <p:nvPr/>
        </p:nvSpPr>
        <p:spPr>
          <a:xfrm>
            <a:off x="8284030" y="1195251"/>
            <a:ext cx="678391" cy="369332"/>
          </a:xfrm>
          <a:prstGeom prst="rect">
            <a:avLst/>
          </a:prstGeom>
          <a:noFill/>
        </p:spPr>
        <p:txBody>
          <a:bodyPr wrap="none" rtlCol="0">
            <a:spAutoFit/>
          </a:bodyPr>
          <a:lstStyle/>
          <a:p>
            <a:r>
              <a:rPr lang="en-US" dirty="0"/>
              <a:t>2744</a:t>
            </a:r>
          </a:p>
        </p:txBody>
      </p:sp>
      <p:sp>
        <p:nvSpPr>
          <p:cNvPr id="6" name="TextBox 5"/>
          <p:cNvSpPr txBox="1"/>
          <p:nvPr/>
        </p:nvSpPr>
        <p:spPr>
          <a:xfrm>
            <a:off x="8284029" y="3964577"/>
            <a:ext cx="678391" cy="369332"/>
          </a:xfrm>
          <a:prstGeom prst="rect">
            <a:avLst/>
          </a:prstGeom>
          <a:noFill/>
        </p:spPr>
        <p:txBody>
          <a:bodyPr wrap="none" rtlCol="0">
            <a:spAutoFit/>
          </a:bodyPr>
          <a:lstStyle/>
          <a:p>
            <a:r>
              <a:rPr lang="en-US" dirty="0"/>
              <a:t>2761</a:t>
            </a:r>
          </a:p>
        </p:txBody>
      </p:sp>
      <p:pic>
        <p:nvPicPr>
          <p:cNvPr id="7" name="Picture 6"/>
          <p:cNvPicPr>
            <a:picLocks noChangeAspect="1"/>
          </p:cNvPicPr>
          <p:nvPr/>
        </p:nvPicPr>
        <p:blipFill rotWithShape="1">
          <a:blip r:embed="rId4"/>
          <a:srcRect t="49725" r="46273"/>
          <a:stretch/>
        </p:blipFill>
        <p:spPr>
          <a:xfrm>
            <a:off x="1389864" y="999308"/>
            <a:ext cx="4751856" cy="2785654"/>
          </a:xfrm>
          <a:prstGeom prst="rect">
            <a:avLst/>
          </a:prstGeom>
        </p:spPr>
      </p:pic>
      <p:sp>
        <p:nvSpPr>
          <p:cNvPr id="8" name="TextBox 7"/>
          <p:cNvSpPr txBox="1"/>
          <p:nvPr/>
        </p:nvSpPr>
        <p:spPr>
          <a:xfrm>
            <a:off x="3765793" y="1110343"/>
            <a:ext cx="678391" cy="369332"/>
          </a:xfrm>
          <a:prstGeom prst="rect">
            <a:avLst/>
          </a:prstGeom>
          <a:noFill/>
        </p:spPr>
        <p:txBody>
          <a:bodyPr wrap="none" rtlCol="0">
            <a:spAutoFit/>
          </a:bodyPr>
          <a:lstStyle/>
          <a:p>
            <a:r>
              <a:rPr lang="en-US" dirty="0"/>
              <a:t>2743</a:t>
            </a:r>
          </a:p>
        </p:txBody>
      </p:sp>
      <p:pic>
        <p:nvPicPr>
          <p:cNvPr id="9" name="Picture 8"/>
          <p:cNvPicPr>
            <a:picLocks noChangeAspect="1"/>
          </p:cNvPicPr>
          <p:nvPr/>
        </p:nvPicPr>
        <p:blipFill rotWithShape="1">
          <a:blip r:embed="rId5"/>
          <a:srcRect t="49628" r="45991"/>
          <a:stretch/>
        </p:blipFill>
        <p:spPr>
          <a:xfrm>
            <a:off x="1608908" y="3964578"/>
            <a:ext cx="4532812" cy="2547257"/>
          </a:xfrm>
          <a:prstGeom prst="rect">
            <a:avLst/>
          </a:prstGeom>
        </p:spPr>
      </p:pic>
      <p:sp>
        <p:nvSpPr>
          <p:cNvPr id="10" name="Rectangle 9"/>
          <p:cNvSpPr/>
          <p:nvPr/>
        </p:nvSpPr>
        <p:spPr>
          <a:xfrm>
            <a:off x="5836217" y="1110344"/>
            <a:ext cx="240188" cy="2174966"/>
          </a:xfrm>
          <a:prstGeom prst="rect">
            <a:avLst/>
          </a:prstGeom>
          <a:solidFill>
            <a:srgbClr val="FF0000">
              <a:alpha val="5000"/>
            </a:srgbClr>
          </a:solid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06174" y="4088674"/>
            <a:ext cx="324512" cy="1965960"/>
          </a:xfrm>
          <a:prstGeom prst="rect">
            <a:avLst/>
          </a:prstGeom>
          <a:solidFill>
            <a:srgbClr val="FF0000">
              <a:alpha val="5000"/>
            </a:srgbClr>
          </a:solid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693617" y="1195252"/>
            <a:ext cx="673937" cy="2090059"/>
          </a:xfrm>
          <a:prstGeom prst="rect">
            <a:avLst/>
          </a:prstGeom>
          <a:solidFill>
            <a:srgbClr val="FF0000">
              <a:alpha val="5000"/>
            </a:srgbClr>
          </a:solid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850372" y="3964578"/>
            <a:ext cx="602092" cy="2037806"/>
          </a:xfrm>
          <a:prstGeom prst="rect">
            <a:avLst/>
          </a:prstGeom>
          <a:solidFill>
            <a:srgbClr val="FF0000">
              <a:alpha val="5000"/>
            </a:srgbClr>
          </a:solid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873877" y="228880"/>
            <a:ext cx="2830647" cy="646331"/>
          </a:xfrm>
          <a:prstGeom prst="rect">
            <a:avLst/>
          </a:prstGeom>
          <a:noFill/>
        </p:spPr>
        <p:txBody>
          <a:bodyPr wrap="none" rtlCol="0">
            <a:spAutoFit/>
          </a:bodyPr>
          <a:lstStyle/>
          <a:p>
            <a:r>
              <a:rPr lang="en-US" dirty="0"/>
              <a:t>Engine Breaking Issue</a:t>
            </a:r>
          </a:p>
          <a:p>
            <a:r>
              <a:rPr lang="en-US" dirty="0"/>
              <a:t>EngRetarderStat_1587 ==1</a:t>
            </a:r>
          </a:p>
        </p:txBody>
      </p:sp>
      <p:sp>
        <p:nvSpPr>
          <p:cNvPr id="18" name="TextBox 17"/>
          <p:cNvSpPr txBox="1"/>
          <p:nvPr/>
        </p:nvSpPr>
        <p:spPr>
          <a:xfrm>
            <a:off x="8284029" y="168311"/>
            <a:ext cx="2590459" cy="830997"/>
          </a:xfrm>
          <a:prstGeom prst="rect">
            <a:avLst/>
          </a:prstGeom>
          <a:noFill/>
        </p:spPr>
        <p:txBody>
          <a:bodyPr wrap="square" rtlCol="0">
            <a:spAutoFit/>
          </a:bodyPr>
          <a:lstStyle/>
          <a:p>
            <a:r>
              <a:rPr lang="en-US" sz="1200" dirty="0">
                <a:solidFill>
                  <a:srgbClr val="FF0000"/>
                </a:solidFill>
              </a:rPr>
              <a:t>EngRetarderStat_1587 ==1, it should slow down, but the  2744,2761 not slowing down.  It is a safety related problem.  </a:t>
            </a:r>
          </a:p>
        </p:txBody>
      </p:sp>
    </p:spTree>
    <p:extLst>
      <p:ext uri="{BB962C8B-B14F-4D97-AF65-F5344CB8AC3E}">
        <p14:creationId xmlns:p14="http://schemas.microsoft.com/office/powerpoint/2010/main" val="181610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231A-DBE8-C6CF-6496-63FD680D1FA5}"/>
              </a:ext>
            </a:extLst>
          </p:cNvPr>
          <p:cNvSpPr>
            <a:spLocks noGrp="1"/>
          </p:cNvSpPr>
          <p:nvPr>
            <p:ph type="title"/>
          </p:nvPr>
        </p:nvSpPr>
        <p:spPr>
          <a:xfrm>
            <a:off x="838199" y="365125"/>
            <a:ext cx="10724535" cy="1325563"/>
          </a:xfrm>
        </p:spPr>
        <p:txBody>
          <a:bodyPr/>
          <a:lstStyle/>
          <a:p>
            <a:r>
              <a:rPr lang="en-US" dirty="0"/>
              <a:t>What variable actually carries the information?</a:t>
            </a:r>
          </a:p>
        </p:txBody>
      </p:sp>
      <p:sp>
        <p:nvSpPr>
          <p:cNvPr id="3" name="Content Placeholder 2">
            <a:extLst>
              <a:ext uri="{FF2B5EF4-FFF2-40B4-BE49-F238E27FC236}">
                <a16:creationId xmlns:a16="http://schemas.microsoft.com/office/drawing/2014/main" id="{4A3A08C0-F334-7D36-2FF0-C4C789C8CC33}"/>
              </a:ext>
            </a:extLst>
          </p:cNvPr>
          <p:cNvSpPr>
            <a:spLocks noGrp="1"/>
          </p:cNvSpPr>
          <p:nvPr>
            <p:ph idx="1"/>
          </p:nvPr>
        </p:nvSpPr>
        <p:spPr/>
        <p:txBody>
          <a:bodyPr>
            <a:normAutofit fontScale="92500"/>
          </a:bodyPr>
          <a:lstStyle/>
          <a:p>
            <a:pPr marL="0" indent="0">
              <a:buNone/>
            </a:pPr>
            <a:r>
              <a:rPr lang="en-US" dirty="0"/>
              <a:t>Best Proxy is </a:t>
            </a:r>
          </a:p>
          <a:p>
            <a:pPr marL="0" indent="0">
              <a:buNone/>
            </a:pPr>
            <a:r>
              <a:rPr lang="en-US" dirty="0" err="1"/>
              <a:t>Act_RetardPctTorqExh</a:t>
            </a:r>
            <a:endParaRPr lang="en-US" dirty="0"/>
          </a:p>
          <a:p>
            <a:pPr marL="0" indent="0">
              <a:buNone/>
            </a:pPr>
            <a:endParaRPr lang="en-US" dirty="0"/>
          </a:p>
          <a:p>
            <a:pPr marL="0" indent="0">
              <a:buNone/>
            </a:pPr>
            <a:r>
              <a:rPr lang="en-US" dirty="0"/>
              <a:t>This is effectively:</a:t>
            </a:r>
          </a:p>
          <a:p>
            <a:pPr marL="0" indent="0">
              <a:buNone/>
            </a:pPr>
            <a:r>
              <a:rPr lang="en-US" i="1" dirty="0"/>
              <a:t>How much negative torque the engine can generate at a given RPM</a:t>
            </a:r>
          </a:p>
          <a:p>
            <a:pPr marL="0" indent="0">
              <a:buNone/>
            </a:pPr>
            <a:endParaRPr lang="en-US" dirty="0"/>
          </a:p>
          <a:p>
            <a:pPr marL="0" indent="0">
              <a:buNone/>
            </a:pPr>
            <a:r>
              <a:rPr lang="en-US" dirty="0"/>
              <a:t>A healthy system will show </a:t>
            </a:r>
            <a:r>
              <a:rPr lang="en-US" b="1" dirty="0"/>
              <a:t>strong, predictable dependence on RPM</a:t>
            </a:r>
            <a:endParaRPr lang="en-US" dirty="0"/>
          </a:p>
          <a:p>
            <a:pPr marL="0" indent="0">
              <a:buNone/>
            </a:pPr>
            <a:endParaRPr lang="en-US" dirty="0"/>
          </a:p>
          <a:p>
            <a:pPr marL="0" indent="0">
              <a:buNone/>
            </a:pPr>
            <a:r>
              <a:rPr lang="en-US" dirty="0"/>
              <a:t>A degraded system will </a:t>
            </a:r>
            <a:r>
              <a:rPr lang="en-US" b="1" dirty="0"/>
              <a:t>decouple</a:t>
            </a:r>
            <a:r>
              <a:rPr lang="en-US" dirty="0"/>
              <a:t> from RPM.</a:t>
            </a:r>
          </a:p>
        </p:txBody>
      </p:sp>
    </p:spTree>
    <p:extLst>
      <p:ext uri="{BB962C8B-B14F-4D97-AF65-F5344CB8AC3E}">
        <p14:creationId xmlns:p14="http://schemas.microsoft.com/office/powerpoint/2010/main" val="2228036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E2BCF-AC94-41DA-92D7-E08F6532656F}"/>
              </a:ext>
            </a:extLst>
          </p:cNvPr>
          <p:cNvSpPr>
            <a:spLocks noGrp="1"/>
          </p:cNvSpPr>
          <p:nvPr>
            <p:ph type="title"/>
          </p:nvPr>
        </p:nvSpPr>
        <p:spPr>
          <a:xfrm>
            <a:off x="645840" y="-254820"/>
            <a:ext cx="10515600" cy="1325563"/>
          </a:xfrm>
        </p:spPr>
        <p:txBody>
          <a:bodyPr/>
          <a:lstStyle/>
          <a:p>
            <a:r>
              <a:rPr lang="en-US" dirty="0"/>
              <a:t>Key Channel    </a:t>
            </a:r>
            <a:r>
              <a:rPr lang="en-US" sz="2800" kern="1200" dirty="0" err="1">
                <a:solidFill>
                  <a:schemeClr val="dk1"/>
                </a:solidFill>
                <a:effectLst/>
                <a:latin typeface="+mn-lt"/>
                <a:ea typeface="+mn-ea"/>
                <a:cs typeface="+mn-cs"/>
              </a:rPr>
              <a:t>Act_RetardPctTorqExh</a:t>
            </a:r>
            <a:endParaRPr lang="en-US" dirty="0"/>
          </a:p>
        </p:txBody>
      </p:sp>
      <p:sp>
        <p:nvSpPr>
          <p:cNvPr id="4" name="Slide Number Placeholder 3">
            <a:extLst>
              <a:ext uri="{FF2B5EF4-FFF2-40B4-BE49-F238E27FC236}">
                <a16:creationId xmlns:a16="http://schemas.microsoft.com/office/drawing/2014/main" id="{87AF7D1F-4304-4AE8-8A9D-048A5E47F8A6}"/>
              </a:ext>
            </a:extLst>
          </p:cNvPr>
          <p:cNvSpPr>
            <a:spLocks noGrp="1"/>
          </p:cNvSpPr>
          <p:nvPr>
            <p:ph type="sldNum" sz="quarter" idx="11"/>
          </p:nvPr>
        </p:nvSpPr>
        <p:spPr/>
        <p:txBody>
          <a:bodyPr/>
          <a:lstStyle/>
          <a:p>
            <a:fld id="{05298CB1-4000-4C34-8BE7-DC1D93D92EBB}" type="slidenum">
              <a:rPr lang="en-US" smtClean="0"/>
              <a:pPr/>
              <a:t>11</a:t>
            </a:fld>
            <a:endParaRPr lang="en-US"/>
          </a:p>
        </p:txBody>
      </p:sp>
      <p:pic>
        <p:nvPicPr>
          <p:cNvPr id="7" name="Content Placeholder 6">
            <a:extLst>
              <a:ext uri="{FF2B5EF4-FFF2-40B4-BE49-F238E27FC236}">
                <a16:creationId xmlns:a16="http://schemas.microsoft.com/office/drawing/2014/main" id="{7EAA61DC-0540-4B01-9581-85DC77BDA7E5}"/>
              </a:ext>
            </a:extLst>
          </p:cNvPr>
          <p:cNvPicPr>
            <a:picLocks noGrp="1" noChangeAspect="1"/>
          </p:cNvPicPr>
          <p:nvPr>
            <p:ph sz="quarter" idx="12"/>
          </p:nvPr>
        </p:nvPicPr>
        <p:blipFill>
          <a:blip r:embed="rId2"/>
          <a:stretch>
            <a:fillRect/>
          </a:stretch>
        </p:blipFill>
        <p:spPr>
          <a:xfrm>
            <a:off x="641804" y="757722"/>
            <a:ext cx="10039298" cy="2148488"/>
          </a:xfrm>
        </p:spPr>
      </p:pic>
      <p:sp>
        <p:nvSpPr>
          <p:cNvPr id="9" name="TextBox 8">
            <a:extLst>
              <a:ext uri="{FF2B5EF4-FFF2-40B4-BE49-F238E27FC236}">
                <a16:creationId xmlns:a16="http://schemas.microsoft.com/office/drawing/2014/main" id="{292BA974-8838-4940-A85D-24000228B584}"/>
              </a:ext>
            </a:extLst>
          </p:cNvPr>
          <p:cNvSpPr txBox="1"/>
          <p:nvPr/>
        </p:nvSpPr>
        <p:spPr>
          <a:xfrm>
            <a:off x="3531541" y="3858102"/>
            <a:ext cx="6811994" cy="1938992"/>
          </a:xfrm>
          <a:prstGeom prst="rect">
            <a:avLst/>
          </a:prstGeom>
          <a:noFill/>
        </p:spPr>
        <p:txBody>
          <a:bodyPr wrap="square" numCol="1">
            <a:spAutoFit/>
          </a:bodyPr>
          <a:lstStyle/>
          <a:p>
            <a:r>
              <a:rPr lang="en-US" sz="1600" kern="1200" dirty="0">
                <a:solidFill>
                  <a:schemeClr val="dk1"/>
                </a:solidFill>
                <a:effectLst/>
                <a:latin typeface="+mn-lt"/>
                <a:ea typeface="+mn-ea"/>
                <a:cs typeface="+mn-cs"/>
              </a:rPr>
              <a:t>The key </a:t>
            </a:r>
            <a:r>
              <a:rPr lang="en-US" sz="1600" dirty="0">
                <a:solidFill>
                  <a:schemeClr val="dk1"/>
                </a:solidFill>
              </a:rPr>
              <a:t>signal is </a:t>
            </a:r>
            <a:r>
              <a:rPr lang="en-US" sz="1600" kern="1200" dirty="0" err="1">
                <a:solidFill>
                  <a:schemeClr val="dk1"/>
                </a:solidFill>
                <a:effectLst/>
                <a:latin typeface="+mn-lt"/>
                <a:ea typeface="+mn-ea"/>
                <a:cs typeface="+mn-cs"/>
              </a:rPr>
              <a:t>Act_RetardPctTorqExh</a:t>
            </a:r>
            <a:endParaRPr lang="en-US" sz="1600" kern="1200" dirty="0">
              <a:solidFill>
                <a:schemeClr val="dk1"/>
              </a:solidFill>
              <a:effectLst/>
              <a:latin typeface="+mn-lt"/>
              <a:ea typeface="+mn-ea"/>
              <a:cs typeface="+mn-cs"/>
            </a:endParaRPr>
          </a:p>
          <a:p>
            <a:endParaRPr lang="en-US" sz="1600" dirty="0">
              <a:solidFill>
                <a:schemeClr val="dk1"/>
              </a:solidFill>
            </a:endParaRPr>
          </a:p>
          <a:p>
            <a:r>
              <a:rPr lang="en-US" sz="1600" kern="1200" dirty="0">
                <a:solidFill>
                  <a:schemeClr val="dk1"/>
                </a:solidFill>
                <a:effectLst/>
                <a:latin typeface="+mn-lt"/>
                <a:ea typeface="+mn-ea"/>
                <a:cs typeface="+mn-cs"/>
              </a:rPr>
              <a:t> The unit is % here.  </a:t>
            </a:r>
            <a:r>
              <a:rPr lang="en-US" sz="2400" kern="1200" dirty="0">
                <a:solidFill>
                  <a:srgbClr val="FF0000"/>
                </a:solidFill>
                <a:effectLst/>
                <a:latin typeface="+mn-lt"/>
                <a:ea typeface="+mn-ea"/>
                <a:cs typeface="+mn-cs"/>
              </a:rPr>
              <a:t>-100% </a:t>
            </a:r>
            <a:r>
              <a:rPr lang="en-US" sz="1600" kern="1200" dirty="0">
                <a:solidFill>
                  <a:schemeClr val="dk1"/>
                </a:solidFill>
                <a:effectLst/>
                <a:latin typeface="+mn-lt"/>
                <a:ea typeface="+mn-ea"/>
                <a:cs typeface="+mn-cs"/>
              </a:rPr>
              <a:t>means, all 100% of the exhaust gas is going back into the engine due to closure of the valve.  As soon as you  close the valve, there will be a high pressure built up in the combustion chamber slowing down the vehicle.  </a:t>
            </a:r>
            <a:r>
              <a:rPr lang="en-US" sz="1600" dirty="0">
                <a:solidFill>
                  <a:schemeClr val="dk1"/>
                </a:solidFill>
              </a:rPr>
              <a:t>Due to lack of fuel for burring, this back pressure will go down to eventually zero.   </a:t>
            </a:r>
            <a:endParaRPr lang="en-US" sz="1600" dirty="0"/>
          </a:p>
        </p:txBody>
      </p:sp>
      <p:sp>
        <p:nvSpPr>
          <p:cNvPr id="11" name="TextBox 10">
            <a:extLst>
              <a:ext uri="{FF2B5EF4-FFF2-40B4-BE49-F238E27FC236}">
                <a16:creationId xmlns:a16="http://schemas.microsoft.com/office/drawing/2014/main" id="{580EAB99-9A67-4B1D-96C3-8660B7978592}"/>
              </a:ext>
            </a:extLst>
          </p:cNvPr>
          <p:cNvSpPr txBox="1"/>
          <p:nvPr/>
        </p:nvSpPr>
        <p:spPr>
          <a:xfrm>
            <a:off x="3172813" y="2749859"/>
            <a:ext cx="7508289" cy="523220"/>
          </a:xfrm>
          <a:prstGeom prst="rect">
            <a:avLst/>
          </a:prstGeom>
          <a:noFill/>
        </p:spPr>
        <p:txBody>
          <a:bodyPr wrap="square">
            <a:spAutoFit/>
          </a:bodyPr>
          <a:lstStyle/>
          <a:p>
            <a:r>
              <a:rPr lang="en-US" sz="2800" kern="1200" dirty="0">
                <a:solidFill>
                  <a:schemeClr val="dk1"/>
                </a:solidFill>
                <a:effectLst/>
                <a:highlight>
                  <a:srgbClr val="FFFF00"/>
                </a:highlight>
                <a:latin typeface="+mn-lt"/>
                <a:ea typeface="+mn-ea"/>
                <a:cs typeface="+mn-cs"/>
              </a:rPr>
              <a:t>-100 % &lt; </a:t>
            </a:r>
            <a:r>
              <a:rPr lang="en-US" sz="2800" kern="1200" dirty="0" err="1">
                <a:solidFill>
                  <a:schemeClr val="dk1"/>
                </a:solidFill>
                <a:effectLst/>
                <a:highlight>
                  <a:srgbClr val="FFFF00"/>
                </a:highlight>
                <a:latin typeface="+mn-lt"/>
                <a:ea typeface="+mn-ea"/>
                <a:cs typeface="+mn-cs"/>
              </a:rPr>
              <a:t>Act_RetardPctTorqExh</a:t>
            </a:r>
            <a:r>
              <a:rPr lang="en-US" sz="2800" kern="1200" dirty="0">
                <a:solidFill>
                  <a:schemeClr val="dk1"/>
                </a:solidFill>
                <a:effectLst/>
                <a:highlight>
                  <a:srgbClr val="FFFF00"/>
                </a:highlight>
                <a:latin typeface="+mn-lt"/>
                <a:ea typeface="+mn-ea"/>
                <a:cs typeface="+mn-cs"/>
              </a:rPr>
              <a:t> &lt; 0%</a:t>
            </a:r>
            <a:endParaRPr lang="en-US" sz="2800" dirty="0">
              <a:highlight>
                <a:srgbClr val="FFFF00"/>
              </a:highlight>
            </a:endParaRPr>
          </a:p>
        </p:txBody>
      </p:sp>
    </p:spTree>
    <p:extLst>
      <p:ext uri="{BB962C8B-B14F-4D97-AF65-F5344CB8AC3E}">
        <p14:creationId xmlns:p14="http://schemas.microsoft.com/office/powerpoint/2010/main" val="2871485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6C8472-8D19-D06B-344B-BC812A2055A4}"/>
              </a:ext>
            </a:extLst>
          </p:cNvPr>
          <p:cNvPicPr>
            <a:picLocks noChangeAspect="1"/>
          </p:cNvPicPr>
          <p:nvPr/>
        </p:nvPicPr>
        <p:blipFill>
          <a:blip r:embed="rId2"/>
          <a:stretch>
            <a:fillRect/>
          </a:stretch>
        </p:blipFill>
        <p:spPr>
          <a:xfrm>
            <a:off x="100013" y="1319214"/>
            <a:ext cx="5815118" cy="3729038"/>
          </a:xfrm>
          <a:prstGeom prst="rect">
            <a:avLst/>
          </a:prstGeom>
        </p:spPr>
      </p:pic>
      <p:pic>
        <p:nvPicPr>
          <p:cNvPr id="7" name="Picture 6">
            <a:extLst>
              <a:ext uri="{FF2B5EF4-FFF2-40B4-BE49-F238E27FC236}">
                <a16:creationId xmlns:a16="http://schemas.microsoft.com/office/drawing/2014/main" id="{C2E2F12B-3B92-E0F0-0059-D6B60B5D1B77}"/>
              </a:ext>
            </a:extLst>
          </p:cNvPr>
          <p:cNvPicPr>
            <a:picLocks noChangeAspect="1"/>
          </p:cNvPicPr>
          <p:nvPr/>
        </p:nvPicPr>
        <p:blipFill>
          <a:blip r:embed="rId3"/>
          <a:stretch>
            <a:fillRect/>
          </a:stretch>
        </p:blipFill>
        <p:spPr>
          <a:xfrm>
            <a:off x="6096000" y="1319214"/>
            <a:ext cx="5904384" cy="3919536"/>
          </a:xfrm>
          <a:prstGeom prst="rect">
            <a:avLst/>
          </a:prstGeom>
        </p:spPr>
      </p:pic>
    </p:spTree>
    <p:extLst>
      <p:ext uri="{BB962C8B-B14F-4D97-AF65-F5344CB8AC3E}">
        <p14:creationId xmlns:p14="http://schemas.microsoft.com/office/powerpoint/2010/main" val="366015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23D58D-FBD5-E5EB-771B-96DCF18636CB}"/>
              </a:ext>
            </a:extLst>
          </p:cNvPr>
          <p:cNvPicPr>
            <a:picLocks noChangeAspect="1"/>
          </p:cNvPicPr>
          <p:nvPr/>
        </p:nvPicPr>
        <p:blipFill>
          <a:blip r:embed="rId2"/>
          <a:stretch>
            <a:fillRect/>
          </a:stretch>
        </p:blipFill>
        <p:spPr>
          <a:xfrm>
            <a:off x="2338387" y="400050"/>
            <a:ext cx="7515225" cy="5619750"/>
          </a:xfrm>
          <a:prstGeom prst="rect">
            <a:avLst/>
          </a:prstGeom>
        </p:spPr>
      </p:pic>
    </p:spTree>
    <p:extLst>
      <p:ext uri="{BB962C8B-B14F-4D97-AF65-F5344CB8AC3E}">
        <p14:creationId xmlns:p14="http://schemas.microsoft.com/office/powerpoint/2010/main" val="392212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A01804-1B6E-3C86-9D4B-220975F29246}"/>
              </a:ext>
            </a:extLst>
          </p:cNvPr>
          <p:cNvPicPr>
            <a:picLocks noChangeAspect="1"/>
          </p:cNvPicPr>
          <p:nvPr/>
        </p:nvPicPr>
        <p:blipFill>
          <a:blip r:embed="rId2"/>
          <a:stretch>
            <a:fillRect/>
          </a:stretch>
        </p:blipFill>
        <p:spPr>
          <a:xfrm>
            <a:off x="723718" y="1401983"/>
            <a:ext cx="10744563" cy="2865217"/>
          </a:xfrm>
          <a:prstGeom prst="rect">
            <a:avLst/>
          </a:prstGeom>
        </p:spPr>
      </p:pic>
    </p:spTree>
    <p:extLst>
      <p:ext uri="{BB962C8B-B14F-4D97-AF65-F5344CB8AC3E}">
        <p14:creationId xmlns:p14="http://schemas.microsoft.com/office/powerpoint/2010/main" val="43730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15CC16-6B54-3700-07ED-E966C455942F}"/>
              </a:ext>
            </a:extLst>
          </p:cNvPr>
          <p:cNvSpPr>
            <a:spLocks noGrp="1"/>
          </p:cNvSpPr>
          <p:nvPr>
            <p:ph type="ctrTitle"/>
          </p:nvPr>
        </p:nvSpPr>
        <p:spPr/>
        <p:txBody>
          <a:bodyPr/>
          <a:lstStyle/>
          <a:p>
            <a:r>
              <a:rPr lang="en-US" dirty="0"/>
              <a:t>Data</a:t>
            </a:r>
          </a:p>
        </p:txBody>
      </p:sp>
      <p:sp>
        <p:nvSpPr>
          <p:cNvPr id="5" name="Subtitle 4">
            <a:extLst>
              <a:ext uri="{FF2B5EF4-FFF2-40B4-BE49-F238E27FC236}">
                <a16:creationId xmlns:a16="http://schemas.microsoft.com/office/drawing/2014/main" id="{A8C20492-62A6-EBD1-1C92-5F45F456BF7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35807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C221E-49F7-B454-7F0D-54BC9AF63EC9}"/>
              </a:ext>
            </a:extLst>
          </p:cNvPr>
          <p:cNvSpPr>
            <a:spLocks noGrp="1"/>
          </p:cNvSpPr>
          <p:nvPr>
            <p:ph type="title"/>
          </p:nvPr>
        </p:nvSpPr>
        <p:spPr>
          <a:xfrm>
            <a:off x="367107" y="-220028"/>
            <a:ext cx="10515600" cy="1325563"/>
          </a:xfrm>
        </p:spPr>
        <p:txBody>
          <a:bodyPr/>
          <a:lstStyle/>
          <a:p>
            <a:r>
              <a:rPr lang="en-US" dirty="0"/>
              <a:t>Unzip Zip File</a:t>
            </a:r>
          </a:p>
        </p:txBody>
      </p:sp>
      <p:pic>
        <p:nvPicPr>
          <p:cNvPr id="5" name="Content Placeholder 4">
            <a:extLst>
              <a:ext uri="{FF2B5EF4-FFF2-40B4-BE49-F238E27FC236}">
                <a16:creationId xmlns:a16="http://schemas.microsoft.com/office/drawing/2014/main" id="{A5B1C322-E9F9-1C4A-4B04-1CB7FCF97FB9}"/>
              </a:ext>
            </a:extLst>
          </p:cNvPr>
          <p:cNvPicPr>
            <a:picLocks noGrp="1" noChangeAspect="1"/>
          </p:cNvPicPr>
          <p:nvPr>
            <p:ph idx="1"/>
          </p:nvPr>
        </p:nvPicPr>
        <p:blipFill>
          <a:blip r:embed="rId2"/>
          <a:srcRect r="23631"/>
          <a:stretch>
            <a:fillRect/>
          </a:stretch>
        </p:blipFill>
        <p:spPr>
          <a:xfrm>
            <a:off x="312812" y="879077"/>
            <a:ext cx="2627033" cy="3509074"/>
          </a:xfrm>
          <a:prstGeom prst="rect">
            <a:avLst/>
          </a:prstGeom>
        </p:spPr>
      </p:pic>
      <p:pic>
        <p:nvPicPr>
          <p:cNvPr id="7" name="Picture 6">
            <a:extLst>
              <a:ext uri="{FF2B5EF4-FFF2-40B4-BE49-F238E27FC236}">
                <a16:creationId xmlns:a16="http://schemas.microsoft.com/office/drawing/2014/main" id="{1FB84982-0B03-C50D-252D-3D7EE6CBAAED}"/>
              </a:ext>
            </a:extLst>
          </p:cNvPr>
          <p:cNvPicPr>
            <a:picLocks noChangeAspect="1"/>
          </p:cNvPicPr>
          <p:nvPr/>
        </p:nvPicPr>
        <p:blipFill>
          <a:blip r:embed="rId3"/>
          <a:stretch>
            <a:fillRect/>
          </a:stretch>
        </p:blipFill>
        <p:spPr>
          <a:xfrm>
            <a:off x="3108701" y="879077"/>
            <a:ext cx="2987299" cy="5220152"/>
          </a:xfrm>
          <a:prstGeom prst="rect">
            <a:avLst/>
          </a:prstGeom>
        </p:spPr>
      </p:pic>
      <p:pic>
        <p:nvPicPr>
          <p:cNvPr id="9" name="Picture 8">
            <a:extLst>
              <a:ext uri="{FF2B5EF4-FFF2-40B4-BE49-F238E27FC236}">
                <a16:creationId xmlns:a16="http://schemas.microsoft.com/office/drawing/2014/main" id="{040FD183-7C79-3DF8-DADF-1F0138CD0D93}"/>
              </a:ext>
            </a:extLst>
          </p:cNvPr>
          <p:cNvPicPr>
            <a:picLocks noChangeAspect="1"/>
          </p:cNvPicPr>
          <p:nvPr/>
        </p:nvPicPr>
        <p:blipFill>
          <a:blip r:embed="rId4"/>
          <a:stretch>
            <a:fillRect/>
          </a:stretch>
        </p:blipFill>
        <p:spPr>
          <a:xfrm>
            <a:off x="6264856" y="632218"/>
            <a:ext cx="2537680" cy="2796782"/>
          </a:xfrm>
          <a:prstGeom prst="rect">
            <a:avLst/>
          </a:prstGeom>
        </p:spPr>
      </p:pic>
      <p:pic>
        <p:nvPicPr>
          <p:cNvPr id="11" name="Picture 10">
            <a:extLst>
              <a:ext uri="{FF2B5EF4-FFF2-40B4-BE49-F238E27FC236}">
                <a16:creationId xmlns:a16="http://schemas.microsoft.com/office/drawing/2014/main" id="{4A7D9E8D-7002-D8E2-7C86-17E887B2A753}"/>
              </a:ext>
            </a:extLst>
          </p:cNvPr>
          <p:cNvPicPr>
            <a:picLocks noChangeAspect="1"/>
          </p:cNvPicPr>
          <p:nvPr/>
        </p:nvPicPr>
        <p:blipFill>
          <a:blip r:embed="rId5"/>
          <a:stretch>
            <a:fillRect/>
          </a:stretch>
        </p:blipFill>
        <p:spPr>
          <a:xfrm>
            <a:off x="6626942" y="3670396"/>
            <a:ext cx="5024284" cy="2871019"/>
          </a:xfrm>
          <a:prstGeom prst="rect">
            <a:avLst/>
          </a:prstGeom>
        </p:spPr>
      </p:pic>
    </p:spTree>
    <p:extLst>
      <p:ext uri="{BB962C8B-B14F-4D97-AF65-F5344CB8AC3E}">
        <p14:creationId xmlns:p14="http://schemas.microsoft.com/office/powerpoint/2010/main" val="3038034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03F3-44E2-ADAC-55FC-E3DCF0EA39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12C873-170E-A928-1D90-1DA880673928}"/>
              </a:ext>
            </a:extLst>
          </p:cNvPr>
          <p:cNvSpPr>
            <a:spLocks noGrp="1"/>
          </p:cNvSpPr>
          <p:nvPr>
            <p:ph type="title"/>
          </p:nvPr>
        </p:nvSpPr>
        <p:spPr>
          <a:xfrm>
            <a:off x="838200" y="365126"/>
            <a:ext cx="10515600" cy="588604"/>
          </a:xfrm>
        </p:spPr>
        <p:txBody>
          <a:bodyPr>
            <a:normAutofit fontScale="90000"/>
          </a:bodyPr>
          <a:lstStyle/>
          <a:p>
            <a:r>
              <a:rPr lang="en-US" dirty="0"/>
              <a:t>Folder Structure</a:t>
            </a:r>
          </a:p>
        </p:txBody>
      </p:sp>
      <p:sp>
        <p:nvSpPr>
          <p:cNvPr id="6" name="Content Placeholder 5">
            <a:extLst>
              <a:ext uri="{FF2B5EF4-FFF2-40B4-BE49-F238E27FC236}">
                <a16:creationId xmlns:a16="http://schemas.microsoft.com/office/drawing/2014/main" id="{4DEEB240-A47A-B979-0FF1-3E4B4AC6A524}"/>
              </a:ext>
            </a:extLst>
          </p:cNvPr>
          <p:cNvSpPr>
            <a:spLocks noGrp="1"/>
          </p:cNvSpPr>
          <p:nvPr>
            <p:ph idx="1"/>
          </p:nvPr>
        </p:nvSpPr>
        <p:spPr>
          <a:xfrm>
            <a:off x="838200" y="953730"/>
            <a:ext cx="10515600" cy="3218323"/>
          </a:xfrm>
        </p:spPr>
        <p:txBody>
          <a:bodyPr/>
          <a:lstStyle/>
          <a:p>
            <a:pPr marL="0" indent="0">
              <a:buNone/>
            </a:pPr>
            <a:r>
              <a:rPr lang="en-US" dirty="0"/>
              <a:t>Project\</a:t>
            </a:r>
            <a:br>
              <a:rPr lang="en-US" dirty="0"/>
            </a:br>
            <a:r>
              <a:rPr lang="en-US" dirty="0"/>
              <a:t>│</a:t>
            </a:r>
            <a:br>
              <a:rPr lang="en-US" dirty="0"/>
            </a:br>
            <a:r>
              <a:rPr lang="en-US" dirty="0"/>
              <a:t>├─ </a:t>
            </a:r>
            <a:r>
              <a:rPr lang="en-US" dirty="0" err="1"/>
              <a:t>myenv</a:t>
            </a:r>
            <a:r>
              <a:rPr lang="en-US" dirty="0"/>
              <a:t>\                        ← virtual environment (next step)</a:t>
            </a:r>
            <a:br>
              <a:rPr lang="en-US" dirty="0"/>
            </a:br>
            <a:r>
              <a:rPr lang="en-US" dirty="0"/>
              <a:t>├─ data\</a:t>
            </a:r>
            <a:br>
              <a:rPr lang="en-US" dirty="0"/>
            </a:br>
            <a:r>
              <a:rPr lang="en-US" dirty="0"/>
              <a:t>│ ├─ raw\                           ← CDF files go here</a:t>
            </a:r>
            <a:br>
              <a:rPr lang="en-US" dirty="0"/>
            </a:br>
            <a:r>
              <a:rPr lang="en-US" dirty="0"/>
              <a:t>│ └─ processed\               ← cleaned / derived data</a:t>
            </a:r>
            <a:br>
              <a:rPr lang="en-US" dirty="0"/>
            </a:br>
            <a:r>
              <a:rPr lang="en-US" dirty="0"/>
              <a:t>├─ notebooks\</a:t>
            </a:r>
            <a:br>
              <a:rPr lang="en-US" dirty="0"/>
            </a:br>
            <a:r>
              <a:rPr lang="en-US" dirty="0"/>
              <a:t>├─ </a:t>
            </a:r>
            <a:r>
              <a:rPr lang="en-US" dirty="0" err="1"/>
              <a:t>src</a:t>
            </a:r>
            <a:r>
              <a:rPr lang="en-US" dirty="0"/>
              <a:t>\</a:t>
            </a:r>
          </a:p>
        </p:txBody>
      </p:sp>
    </p:spTree>
    <p:extLst>
      <p:ext uri="{BB962C8B-B14F-4D97-AF65-F5344CB8AC3E}">
        <p14:creationId xmlns:p14="http://schemas.microsoft.com/office/powerpoint/2010/main" val="3309138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1863-5E46-5F48-0BC0-481E0EAF236A}"/>
              </a:ext>
            </a:extLst>
          </p:cNvPr>
          <p:cNvSpPr>
            <a:spLocks noGrp="1"/>
          </p:cNvSpPr>
          <p:nvPr>
            <p:ph type="title"/>
          </p:nvPr>
        </p:nvSpPr>
        <p:spPr/>
        <p:txBody>
          <a:bodyPr/>
          <a:lstStyle/>
          <a:p>
            <a:r>
              <a:rPr lang="en-US" dirty="0"/>
              <a:t>File Conversion</a:t>
            </a:r>
          </a:p>
        </p:txBody>
      </p:sp>
      <p:sp>
        <p:nvSpPr>
          <p:cNvPr id="3" name="Content Placeholder 2">
            <a:extLst>
              <a:ext uri="{FF2B5EF4-FFF2-40B4-BE49-F238E27FC236}">
                <a16:creationId xmlns:a16="http://schemas.microsoft.com/office/drawing/2014/main" id="{ECD8A2E0-96DB-42FB-10FD-43FD6953F142}"/>
              </a:ext>
            </a:extLst>
          </p:cNvPr>
          <p:cNvSpPr>
            <a:spLocks noGrp="1"/>
          </p:cNvSpPr>
          <p:nvPr>
            <p:ph idx="1"/>
          </p:nvPr>
        </p:nvSpPr>
        <p:spPr/>
        <p:txBody>
          <a:bodyPr/>
          <a:lstStyle/>
          <a:p>
            <a:r>
              <a:rPr lang="en-US" dirty="0"/>
              <a:t>from </a:t>
            </a:r>
            <a:r>
              <a:rPr lang="en-US" dirty="0" err="1"/>
              <a:t>spacepy</a:t>
            </a:r>
            <a:r>
              <a:rPr lang="en-US" dirty="0"/>
              <a:t> import </a:t>
            </a:r>
            <a:r>
              <a:rPr lang="en-US" dirty="0" err="1"/>
              <a:t>pycdf</a:t>
            </a:r>
            <a:endParaRPr lang="en-US" dirty="0"/>
          </a:p>
        </p:txBody>
      </p:sp>
    </p:spTree>
    <p:extLst>
      <p:ext uri="{BB962C8B-B14F-4D97-AF65-F5344CB8AC3E}">
        <p14:creationId xmlns:p14="http://schemas.microsoft.com/office/powerpoint/2010/main" val="2987172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3F14E-3F27-3AD0-AFFA-20CB63BCF80F}"/>
              </a:ext>
            </a:extLst>
          </p:cNvPr>
          <p:cNvSpPr>
            <a:spLocks noGrp="1"/>
          </p:cNvSpPr>
          <p:nvPr>
            <p:ph type="title"/>
          </p:nvPr>
        </p:nvSpPr>
        <p:spPr/>
        <p:txBody>
          <a:bodyPr/>
          <a:lstStyle/>
          <a:p>
            <a:r>
              <a:rPr lang="en-US" dirty="0" err="1"/>
              <a:t>Cdf</a:t>
            </a:r>
            <a:r>
              <a:rPr lang="en-US" dirty="0"/>
              <a:t> files</a:t>
            </a:r>
          </a:p>
        </p:txBody>
      </p:sp>
      <p:sp>
        <p:nvSpPr>
          <p:cNvPr id="3" name="Content Placeholder 2">
            <a:extLst>
              <a:ext uri="{FF2B5EF4-FFF2-40B4-BE49-F238E27FC236}">
                <a16:creationId xmlns:a16="http://schemas.microsoft.com/office/drawing/2014/main" id="{A0780305-3FB8-D0F0-154B-DC721D08503D}"/>
              </a:ext>
            </a:extLst>
          </p:cNvPr>
          <p:cNvSpPr>
            <a:spLocks noGrp="1"/>
          </p:cNvSpPr>
          <p:nvPr>
            <p:ph idx="1"/>
          </p:nvPr>
        </p:nvSpPr>
        <p:spPr>
          <a:xfrm>
            <a:off x="838200" y="1442167"/>
            <a:ext cx="10515600" cy="4351338"/>
          </a:xfrm>
        </p:spPr>
        <p:txBody>
          <a:bodyPr>
            <a:normAutofit/>
          </a:bodyPr>
          <a:lstStyle/>
          <a:p>
            <a:r>
              <a:rPr lang="en-US" sz="1600" dirty="0"/>
              <a:t>--- Group1 --- ✅ Found 7343 CDF files First file: MODEL0018_VIN02764_20201023_1357_FAMILY0003_B_TS_Daily.cdf Sample path breakdown → group=Group1, model=MODEL0018, vin=VIN02764, year=2020 Variables (152 total): ['UTC_1Hz', '</a:t>
            </a:r>
            <a:r>
              <a:rPr lang="en-US" sz="1600" dirty="0" err="1"/>
              <a:t>BrakeSwitch</a:t>
            </a:r>
            <a:r>
              <a:rPr lang="en-US" sz="1600" dirty="0"/>
              <a:t>', '</a:t>
            </a:r>
            <a:r>
              <a:rPr lang="en-US" sz="1600" dirty="0" err="1"/>
              <a:t>CrankcasePres</a:t>
            </a:r>
            <a:r>
              <a:rPr lang="en-US" sz="1600" dirty="0"/>
              <a:t>', '</a:t>
            </a:r>
            <a:r>
              <a:rPr lang="en-US" sz="1600" dirty="0" err="1"/>
              <a:t>TrOutShaftSp</a:t>
            </a:r>
            <a:r>
              <a:rPr lang="en-US" sz="1600" dirty="0"/>
              <a:t>', '</a:t>
            </a:r>
            <a:r>
              <a:rPr lang="en-US" sz="1600" dirty="0" err="1"/>
              <a:t>EngSpeed</a:t>
            </a:r>
            <a:r>
              <a:rPr lang="en-US" sz="1600" dirty="0"/>
              <a:t>', '</a:t>
            </a:r>
            <a:r>
              <a:rPr lang="en-US" sz="1600" dirty="0" err="1"/>
              <a:t>FuelRate</a:t>
            </a:r>
            <a:r>
              <a:rPr lang="en-US" sz="1600" dirty="0"/>
              <a:t>', '</a:t>
            </a:r>
            <a:r>
              <a:rPr lang="en-US" sz="1600" dirty="0" err="1"/>
              <a:t>IntManfTemp</a:t>
            </a:r>
            <a:r>
              <a:rPr lang="en-US" sz="1600" dirty="0"/>
              <a:t>', '</a:t>
            </a:r>
            <a:r>
              <a:rPr lang="en-US" sz="1600" dirty="0" err="1"/>
              <a:t>PTOGovernorSetSwtchEng</a:t>
            </a:r>
            <a:r>
              <a:rPr lang="en-US" sz="1600" dirty="0"/>
              <a:t>', '</a:t>
            </a:r>
            <a:r>
              <a:rPr lang="en-US" sz="1600" dirty="0" err="1"/>
              <a:t>ASROffRoadSwtchTire</a:t>
            </a:r>
            <a:r>
              <a:rPr lang="en-US" sz="1600" dirty="0"/>
              <a:t>', 'PTOResSwtch_1587’]</a:t>
            </a:r>
          </a:p>
          <a:p>
            <a:endParaRPr lang="en-US" sz="1600" dirty="0"/>
          </a:p>
          <a:p>
            <a:endParaRPr lang="en-US" sz="1600" dirty="0"/>
          </a:p>
          <a:p>
            <a:r>
              <a:rPr lang="en-US" sz="1600" dirty="0"/>
              <a:t> --- Group2 --- ✅ Found 13981 CDF files First file: MODEL0018_VIN02758_20160203_1612_FAMILY0003_B_TS_Daily.cdf Sample path breakdown → group=Group2, model=MODEL0018, vin=VIN02758, year=2016 Variables (149 total): ['UTC_1Hz', '</a:t>
            </a:r>
            <a:r>
              <a:rPr lang="en-US" sz="1600" dirty="0" err="1"/>
              <a:t>BrakeSwitch</a:t>
            </a:r>
            <a:r>
              <a:rPr lang="en-US" sz="1600" dirty="0"/>
              <a:t>', '</a:t>
            </a:r>
            <a:r>
              <a:rPr lang="en-US" sz="1600" dirty="0" err="1"/>
              <a:t>CrankcasePres</a:t>
            </a:r>
            <a:r>
              <a:rPr lang="en-US" sz="1600" dirty="0"/>
              <a:t>', '</a:t>
            </a:r>
            <a:r>
              <a:rPr lang="en-US" sz="1600" dirty="0" err="1"/>
              <a:t>TrOutShaftSp</a:t>
            </a:r>
            <a:r>
              <a:rPr lang="en-US" sz="1600" dirty="0"/>
              <a:t>', 'PTOCtlSwt_1587', '</a:t>
            </a:r>
            <a:r>
              <a:rPr lang="en-US" sz="1600" dirty="0" err="1"/>
              <a:t>EngSpeed</a:t>
            </a:r>
            <a:r>
              <a:rPr lang="en-US" sz="1600" dirty="0"/>
              <a:t>', '</a:t>
            </a:r>
            <a:r>
              <a:rPr lang="en-US" sz="1600" dirty="0" err="1"/>
              <a:t>FuelRate</a:t>
            </a:r>
            <a:r>
              <a:rPr lang="en-US" sz="1600" dirty="0"/>
              <a:t>', '</a:t>
            </a:r>
            <a:r>
              <a:rPr lang="en-US" sz="1600" dirty="0" err="1"/>
              <a:t>EngOilPres</a:t>
            </a:r>
            <a:r>
              <a:rPr lang="en-US" sz="1600" dirty="0"/>
              <a:t>', '</a:t>
            </a:r>
            <a:r>
              <a:rPr lang="en-US" sz="1600" dirty="0" err="1"/>
              <a:t>IntManfTemp</a:t>
            </a:r>
            <a:r>
              <a:rPr lang="en-US" sz="1600" dirty="0"/>
              <a:t>', '</a:t>
            </a:r>
            <a:r>
              <a:rPr lang="en-US" sz="1600" dirty="0" err="1"/>
              <a:t>PTOGovernorSetSwtchEng</a:t>
            </a:r>
            <a:r>
              <a:rPr lang="en-US" sz="1600" dirty="0"/>
              <a:t>'] (</a:t>
            </a:r>
            <a:r>
              <a:rPr lang="en-US" sz="1600" dirty="0" err="1"/>
              <a:t>myenv</a:t>
            </a:r>
            <a:r>
              <a:rPr lang="en-US" sz="1600" dirty="0"/>
              <a:t>) PS C:\Users\ggugaratshan\OneDrive - HBK\Documents\2_SIADS\SIADS699\Project&gt; </a:t>
            </a:r>
          </a:p>
        </p:txBody>
      </p:sp>
      <p:sp>
        <p:nvSpPr>
          <p:cNvPr id="7" name="TextBox 6">
            <a:extLst>
              <a:ext uri="{FF2B5EF4-FFF2-40B4-BE49-F238E27FC236}">
                <a16:creationId xmlns:a16="http://schemas.microsoft.com/office/drawing/2014/main" id="{A4046EF8-C873-4BEE-931D-4B0916C9A847}"/>
              </a:ext>
            </a:extLst>
          </p:cNvPr>
          <p:cNvSpPr txBox="1"/>
          <p:nvPr/>
        </p:nvSpPr>
        <p:spPr>
          <a:xfrm>
            <a:off x="3403283" y="5231167"/>
            <a:ext cx="6097904" cy="369332"/>
          </a:xfrm>
          <a:prstGeom prst="rect">
            <a:avLst/>
          </a:prstGeom>
          <a:noFill/>
        </p:spPr>
        <p:txBody>
          <a:bodyPr wrap="square">
            <a:spAutoFit/>
          </a:bodyPr>
          <a:lstStyle/>
          <a:p>
            <a:r>
              <a:rPr lang="en-US" dirty="0"/>
              <a:t>Group1: </a:t>
            </a:r>
            <a:r>
              <a:rPr lang="en-US" b="1" dirty="0"/>
              <a:t>7,343</a:t>
            </a:r>
            <a:r>
              <a:rPr lang="en-US" dirty="0"/>
              <a:t> CDF files; Group2: </a:t>
            </a:r>
            <a:r>
              <a:rPr lang="en-US" b="1" dirty="0"/>
              <a:t>13,981</a:t>
            </a:r>
            <a:r>
              <a:rPr lang="en-US" dirty="0"/>
              <a:t> CDF files</a:t>
            </a:r>
          </a:p>
        </p:txBody>
      </p:sp>
    </p:spTree>
    <p:extLst>
      <p:ext uri="{BB962C8B-B14F-4D97-AF65-F5344CB8AC3E}">
        <p14:creationId xmlns:p14="http://schemas.microsoft.com/office/powerpoint/2010/main" val="3494827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2065F-DBD7-626B-3352-A8B9546700F8}"/>
              </a:ext>
            </a:extLst>
          </p:cNvPr>
          <p:cNvSpPr>
            <a:spLocks noGrp="1"/>
          </p:cNvSpPr>
          <p:nvPr>
            <p:ph type="title"/>
          </p:nvPr>
        </p:nvSpPr>
        <p:spPr/>
        <p:txBody>
          <a:bodyPr/>
          <a:lstStyle/>
          <a:p>
            <a:r>
              <a:rPr lang="en-US" dirty="0"/>
              <a:t>Create a FAST “manifest” of all files (no CDF reading)</a:t>
            </a:r>
          </a:p>
        </p:txBody>
      </p:sp>
      <p:sp>
        <p:nvSpPr>
          <p:cNvPr id="4" name="Rectangle 1">
            <a:extLst>
              <a:ext uri="{FF2B5EF4-FFF2-40B4-BE49-F238E27FC236}">
                <a16:creationId xmlns:a16="http://schemas.microsoft.com/office/drawing/2014/main" id="{AE01C076-05DA-3886-940A-DC9B277404AF}"/>
              </a:ext>
            </a:extLst>
          </p:cNvPr>
          <p:cNvSpPr>
            <a:spLocks noGrp="1" noChangeArrowheads="1"/>
          </p:cNvSpPr>
          <p:nvPr>
            <p:ph idx="1"/>
          </p:nvPr>
        </p:nvSpPr>
        <p:spPr bwMode="auto">
          <a:xfrm>
            <a:off x="838200" y="1802269"/>
            <a:ext cx="344517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group, model, vin, year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date/time parsed from filename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full file path</a:t>
            </a:r>
          </a:p>
        </p:txBody>
      </p:sp>
      <p:sp>
        <p:nvSpPr>
          <p:cNvPr id="7" name="TextBox 6">
            <a:extLst>
              <a:ext uri="{FF2B5EF4-FFF2-40B4-BE49-F238E27FC236}">
                <a16:creationId xmlns:a16="http://schemas.microsoft.com/office/drawing/2014/main" id="{697E42F7-4DB8-D6C5-4D10-6B2B52033ABC}"/>
              </a:ext>
            </a:extLst>
          </p:cNvPr>
          <p:cNvSpPr txBox="1"/>
          <p:nvPr/>
        </p:nvSpPr>
        <p:spPr>
          <a:xfrm>
            <a:off x="838200" y="4724976"/>
            <a:ext cx="2528887" cy="369332"/>
          </a:xfrm>
          <a:prstGeom prst="rect">
            <a:avLst/>
          </a:prstGeom>
          <a:noFill/>
        </p:spPr>
        <p:txBody>
          <a:bodyPr wrap="square">
            <a:spAutoFit/>
          </a:bodyPr>
          <a:lstStyle/>
          <a:p>
            <a:r>
              <a:rPr lang="en-US" dirty="0"/>
              <a:t>src/build_manifest.py</a:t>
            </a:r>
          </a:p>
        </p:txBody>
      </p:sp>
      <p:sp>
        <p:nvSpPr>
          <p:cNvPr id="11" name="TextBox 10">
            <a:extLst>
              <a:ext uri="{FF2B5EF4-FFF2-40B4-BE49-F238E27FC236}">
                <a16:creationId xmlns:a16="http://schemas.microsoft.com/office/drawing/2014/main" id="{CF418850-786E-5D40-2B7B-ADCE37E50ABE}"/>
              </a:ext>
            </a:extLst>
          </p:cNvPr>
          <p:cNvSpPr txBox="1"/>
          <p:nvPr/>
        </p:nvSpPr>
        <p:spPr>
          <a:xfrm>
            <a:off x="1082993" y="3217456"/>
            <a:ext cx="6097904" cy="1200329"/>
          </a:xfrm>
          <a:prstGeom prst="rect">
            <a:avLst/>
          </a:prstGeom>
          <a:noFill/>
        </p:spPr>
        <p:txBody>
          <a:bodyPr wrap="square">
            <a:spAutoFit/>
          </a:bodyPr>
          <a:lstStyle/>
          <a:p>
            <a:pPr>
              <a:buNone/>
            </a:pPr>
            <a:r>
              <a:rPr lang="en-US" dirty="0"/>
              <a:t>This will scan filenames and paths and build a table with:</a:t>
            </a:r>
          </a:p>
          <a:p>
            <a:pPr>
              <a:buFont typeface="Arial" panose="020B0604020202020204" pitchFamily="34" charset="0"/>
              <a:buChar char="•"/>
            </a:pPr>
            <a:r>
              <a:rPr lang="en-US" dirty="0"/>
              <a:t>group, model, vin, year</a:t>
            </a:r>
          </a:p>
          <a:p>
            <a:pPr>
              <a:buFont typeface="Arial" panose="020B0604020202020204" pitchFamily="34" charset="0"/>
              <a:buChar char="•"/>
            </a:pPr>
            <a:r>
              <a:rPr lang="en-US" dirty="0"/>
              <a:t>date/time parsed from filename</a:t>
            </a:r>
          </a:p>
          <a:p>
            <a:pPr>
              <a:buFont typeface="Arial" panose="020B0604020202020204" pitchFamily="34" charset="0"/>
              <a:buChar char="•"/>
            </a:pPr>
            <a:r>
              <a:rPr lang="en-US" dirty="0"/>
              <a:t>full file path</a:t>
            </a:r>
          </a:p>
        </p:txBody>
      </p:sp>
      <p:sp>
        <p:nvSpPr>
          <p:cNvPr id="13" name="TextBox 12">
            <a:extLst>
              <a:ext uri="{FF2B5EF4-FFF2-40B4-BE49-F238E27FC236}">
                <a16:creationId xmlns:a16="http://schemas.microsoft.com/office/drawing/2014/main" id="{D61E72C9-88F4-3A97-5D1D-740BD4030EB2}"/>
              </a:ext>
            </a:extLst>
          </p:cNvPr>
          <p:cNvSpPr txBox="1"/>
          <p:nvPr/>
        </p:nvSpPr>
        <p:spPr>
          <a:xfrm>
            <a:off x="5369243" y="4724976"/>
            <a:ext cx="6097904" cy="369332"/>
          </a:xfrm>
          <a:prstGeom prst="rect">
            <a:avLst/>
          </a:prstGeom>
          <a:noFill/>
        </p:spPr>
        <p:txBody>
          <a:bodyPr wrap="square">
            <a:spAutoFit/>
          </a:bodyPr>
          <a:lstStyle/>
          <a:p>
            <a:r>
              <a:rPr lang="it-IT" dirty="0"/>
              <a:t>data/</a:t>
            </a:r>
            <a:r>
              <a:rPr lang="it-IT" dirty="0" err="1"/>
              <a:t>processed</a:t>
            </a:r>
            <a:r>
              <a:rPr lang="it-IT" dirty="0"/>
              <a:t>/cdf_manifest.csv</a:t>
            </a:r>
            <a:endParaRPr lang="en-US" dirty="0"/>
          </a:p>
        </p:txBody>
      </p:sp>
      <p:cxnSp>
        <p:nvCxnSpPr>
          <p:cNvPr id="15" name="Straight Arrow Connector 14">
            <a:extLst>
              <a:ext uri="{FF2B5EF4-FFF2-40B4-BE49-F238E27FC236}">
                <a16:creationId xmlns:a16="http://schemas.microsoft.com/office/drawing/2014/main" id="{F8CDADA9-72D7-81B4-13E3-889117E2F12A}"/>
              </a:ext>
            </a:extLst>
          </p:cNvPr>
          <p:cNvCxnSpPr>
            <a:stCxn id="7" idx="3"/>
          </p:cNvCxnSpPr>
          <p:nvPr/>
        </p:nvCxnSpPr>
        <p:spPr>
          <a:xfrm>
            <a:off x="3367087" y="4909642"/>
            <a:ext cx="158210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1705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0699-66D5-5BC4-7254-F647772C3E32}"/>
              </a:ext>
            </a:extLst>
          </p:cNvPr>
          <p:cNvSpPr>
            <a:spLocks noGrp="1"/>
          </p:cNvSpPr>
          <p:nvPr>
            <p:ph type="title"/>
          </p:nvPr>
        </p:nvSpPr>
        <p:spPr/>
        <p:txBody>
          <a:bodyPr/>
          <a:lstStyle/>
          <a:p>
            <a:r>
              <a:rPr lang="en-US" dirty="0"/>
              <a:t>Extract Signals</a:t>
            </a:r>
          </a:p>
        </p:txBody>
      </p:sp>
      <p:sp>
        <p:nvSpPr>
          <p:cNvPr id="3" name="Content Placeholder 2">
            <a:extLst>
              <a:ext uri="{FF2B5EF4-FFF2-40B4-BE49-F238E27FC236}">
                <a16:creationId xmlns:a16="http://schemas.microsoft.com/office/drawing/2014/main" id="{DAB50AA7-CB7A-FFC4-E584-6901A03D5153}"/>
              </a:ext>
            </a:extLst>
          </p:cNvPr>
          <p:cNvSpPr>
            <a:spLocks noGrp="1"/>
          </p:cNvSpPr>
          <p:nvPr>
            <p:ph idx="1"/>
          </p:nvPr>
        </p:nvSpPr>
        <p:spPr>
          <a:xfrm>
            <a:off x="838200" y="1334770"/>
            <a:ext cx="10660380" cy="3774440"/>
          </a:xfrm>
        </p:spPr>
        <p:txBody>
          <a:bodyPr>
            <a:normAutofit fontScale="77500" lnSpcReduction="20000"/>
          </a:bodyPr>
          <a:lstStyle/>
          <a:p>
            <a:r>
              <a:rPr lang="en-US" dirty="0"/>
              <a:t>Each </a:t>
            </a:r>
            <a:r>
              <a:rPr lang="en-US" b="1" dirty="0"/>
              <a:t>CDF file</a:t>
            </a:r>
            <a:r>
              <a:rPr lang="en-US" dirty="0"/>
              <a:t> has:</a:t>
            </a:r>
          </a:p>
          <a:p>
            <a:pPr lvl="1"/>
            <a:r>
              <a:rPr lang="en-US" dirty="0"/>
              <a:t>a </a:t>
            </a:r>
            <a:r>
              <a:rPr lang="en-US" b="1" dirty="0"/>
              <a:t>header schema</a:t>
            </a:r>
            <a:r>
              <a:rPr lang="en-US" dirty="0"/>
              <a:t> = list of signal names (variables), Schema is </a:t>
            </a:r>
            <a:r>
              <a:rPr lang="en-US" b="1" dirty="0"/>
              <a:t>set of signal names</a:t>
            </a:r>
            <a:r>
              <a:rPr lang="en-US" dirty="0"/>
              <a:t> present in one CDF file</a:t>
            </a:r>
          </a:p>
          <a:p>
            <a:pPr lvl="1"/>
            <a:r>
              <a:rPr lang="en-US" dirty="0"/>
              <a:t>associated metadata (VIN, model, date)</a:t>
            </a:r>
          </a:p>
          <a:p>
            <a:r>
              <a:rPr lang="en-US" dirty="0"/>
              <a:t>We need to answer </a:t>
            </a:r>
            <a:r>
              <a:rPr lang="en-US" b="1" dirty="0"/>
              <a:t>three questions</a:t>
            </a:r>
            <a:r>
              <a:rPr lang="en-US" dirty="0"/>
              <a:t>:</a:t>
            </a:r>
          </a:p>
          <a:p>
            <a:pPr lvl="1"/>
            <a:r>
              <a:rPr lang="en-US" b="1" dirty="0"/>
              <a:t>Within a VIN</a:t>
            </a:r>
            <a:br>
              <a:rPr lang="en-US" dirty="0"/>
            </a:br>
            <a:r>
              <a:rPr lang="en-US" dirty="0"/>
              <a:t>→ Are signal names </a:t>
            </a:r>
            <a:r>
              <a:rPr lang="en-US" b="1" dirty="0"/>
              <a:t>consistent across time</a:t>
            </a:r>
            <a:r>
              <a:rPr lang="en-US" dirty="0"/>
              <a:t>?</a:t>
            </a:r>
          </a:p>
          <a:p>
            <a:pPr lvl="1"/>
            <a:r>
              <a:rPr lang="en-US" b="1" dirty="0"/>
              <a:t>Across VINs (same model or group)</a:t>
            </a:r>
            <a:br>
              <a:rPr lang="en-US" dirty="0"/>
            </a:br>
            <a:r>
              <a:rPr lang="en-US" dirty="0"/>
              <a:t>→ Do different VINs have </a:t>
            </a:r>
            <a:r>
              <a:rPr lang="en-US" b="1" dirty="0"/>
              <a:t>different signal sets</a:t>
            </a:r>
            <a:r>
              <a:rPr lang="en-US" dirty="0"/>
              <a:t>?</a:t>
            </a:r>
          </a:p>
          <a:p>
            <a:pPr lvl="1"/>
            <a:r>
              <a:rPr lang="en-US" b="1" dirty="0"/>
              <a:t>Over time</a:t>
            </a:r>
            <a:br>
              <a:rPr lang="en-US" dirty="0"/>
            </a:br>
            <a:r>
              <a:rPr lang="en-US" dirty="0"/>
              <a:t>→ Did signal names </a:t>
            </a:r>
            <a:r>
              <a:rPr lang="en-US" b="1" dirty="0"/>
              <a:t>appear/disappear/change</a:t>
            </a:r>
            <a:r>
              <a:rPr lang="en-US" dirty="0"/>
              <a:t> for a VIN (schema drift)?</a:t>
            </a:r>
          </a:p>
          <a:p>
            <a:pPr lvl="1"/>
            <a:endParaRPr lang="en-US" dirty="0"/>
          </a:p>
          <a:p>
            <a:r>
              <a:rPr lang="en-US" dirty="0"/>
              <a:t>This is essentially </a:t>
            </a:r>
            <a:r>
              <a:rPr lang="en-US" b="1" dirty="0"/>
              <a:t>schema versioning &amp; drift detection</a:t>
            </a:r>
            <a:r>
              <a:rPr lang="en-US" dirty="0"/>
              <a:t>, which is very common in this type of onboard diagnostic data.</a:t>
            </a:r>
          </a:p>
        </p:txBody>
      </p:sp>
    </p:spTree>
    <p:extLst>
      <p:ext uri="{BB962C8B-B14F-4D97-AF65-F5344CB8AC3E}">
        <p14:creationId xmlns:p14="http://schemas.microsoft.com/office/powerpoint/2010/main" val="1264000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E0B4C-7C19-3245-4BB9-0A4440830876}"/>
              </a:ext>
            </a:extLst>
          </p:cNvPr>
          <p:cNvSpPr>
            <a:spLocks noGrp="1"/>
          </p:cNvSpPr>
          <p:nvPr>
            <p:ph type="title"/>
          </p:nvPr>
        </p:nvSpPr>
        <p:spPr>
          <a:xfrm>
            <a:off x="731520" y="-73025"/>
            <a:ext cx="10515600" cy="937895"/>
          </a:xfrm>
        </p:spPr>
        <p:txBody>
          <a:bodyPr anchor="ctr">
            <a:normAutofit/>
          </a:bodyPr>
          <a:lstStyle/>
          <a:p>
            <a:r>
              <a:rPr lang="en-US" dirty="0"/>
              <a:t>High-level strategy on Signals</a:t>
            </a:r>
          </a:p>
        </p:txBody>
      </p:sp>
      <p:graphicFrame>
        <p:nvGraphicFramePr>
          <p:cNvPr id="17" name="Content Placeholder 2">
            <a:extLst>
              <a:ext uri="{FF2B5EF4-FFF2-40B4-BE49-F238E27FC236}">
                <a16:creationId xmlns:a16="http://schemas.microsoft.com/office/drawing/2014/main" id="{5E1C73D5-FCBA-CF1F-E9FE-25DC1E1A0270}"/>
              </a:ext>
            </a:extLst>
          </p:cNvPr>
          <p:cNvGraphicFramePr>
            <a:graphicFrameLocks noGrp="1"/>
          </p:cNvGraphicFramePr>
          <p:nvPr>
            <p:ph idx="1"/>
            <p:extLst>
              <p:ext uri="{D42A27DB-BD31-4B8C-83A1-F6EECF244321}">
                <p14:modId xmlns:p14="http://schemas.microsoft.com/office/powerpoint/2010/main" val="2806949578"/>
              </p:ext>
            </p:extLst>
          </p:nvPr>
        </p:nvGraphicFramePr>
        <p:xfrm>
          <a:off x="731520" y="864870"/>
          <a:ext cx="11094720" cy="50368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5869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42A30-FE5A-1842-4920-10981425060D}"/>
              </a:ext>
            </a:extLst>
          </p:cNvPr>
          <p:cNvSpPr>
            <a:spLocks noGrp="1"/>
          </p:cNvSpPr>
          <p:nvPr>
            <p:ph type="title"/>
          </p:nvPr>
        </p:nvSpPr>
        <p:spPr/>
        <p:txBody>
          <a:bodyPr/>
          <a:lstStyle/>
          <a:p>
            <a:r>
              <a:rPr lang="en-US" dirty="0"/>
              <a:t>Output from the Signal Work </a:t>
            </a:r>
          </a:p>
        </p:txBody>
      </p:sp>
      <p:sp>
        <p:nvSpPr>
          <p:cNvPr id="3" name="Content Placeholder 2">
            <a:extLst>
              <a:ext uri="{FF2B5EF4-FFF2-40B4-BE49-F238E27FC236}">
                <a16:creationId xmlns:a16="http://schemas.microsoft.com/office/drawing/2014/main" id="{E161E67B-7DD6-7608-23CA-6D3C998A362B}"/>
              </a:ext>
            </a:extLst>
          </p:cNvPr>
          <p:cNvSpPr>
            <a:spLocks noGrp="1"/>
          </p:cNvSpPr>
          <p:nvPr>
            <p:ph idx="1"/>
          </p:nvPr>
        </p:nvSpPr>
        <p:spPr/>
        <p:txBody>
          <a:bodyPr/>
          <a:lstStyle/>
          <a:p>
            <a:r>
              <a:rPr lang="en-US" dirty="0"/>
              <a:t>For each VIN: baseline signal list, % of files matching baseline, list of drift events with dates</a:t>
            </a:r>
          </a:p>
          <a:p>
            <a:r>
              <a:rPr lang="en-US" dirty="0"/>
              <a:t>Across VINs: signals common to all, VIN-specific signals, signals that changed naming over time</a:t>
            </a:r>
          </a:p>
          <a:p>
            <a:r>
              <a:rPr lang="en-US" dirty="0"/>
              <a:t>This is </a:t>
            </a:r>
            <a:r>
              <a:rPr lang="en-US" b="1" dirty="0"/>
              <a:t>good</a:t>
            </a:r>
            <a:r>
              <a:rPr lang="en-US" dirty="0"/>
              <a:t> for feature engineering, modeling assumptions, explaining results to stakeholders</a:t>
            </a:r>
          </a:p>
          <a:p>
            <a:endParaRPr lang="en-US" dirty="0"/>
          </a:p>
        </p:txBody>
      </p:sp>
    </p:spTree>
    <p:extLst>
      <p:ext uri="{BB962C8B-B14F-4D97-AF65-F5344CB8AC3E}">
        <p14:creationId xmlns:p14="http://schemas.microsoft.com/office/powerpoint/2010/main" val="370813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CD0727-0A62-DF09-063F-2CED6962C01B}"/>
              </a:ext>
            </a:extLst>
          </p:cNvPr>
          <p:cNvSpPr>
            <a:spLocks noGrp="1"/>
          </p:cNvSpPr>
          <p:nvPr>
            <p:ph type="ctrTitle"/>
          </p:nvPr>
        </p:nvSpPr>
        <p:spPr>
          <a:xfrm>
            <a:off x="1200150" y="704850"/>
            <a:ext cx="9144000" cy="1220787"/>
          </a:xfrm>
        </p:spPr>
        <p:txBody>
          <a:bodyPr>
            <a:normAutofit fontScale="90000"/>
          </a:bodyPr>
          <a:lstStyle/>
          <a:p>
            <a:br>
              <a:rPr lang="en-US" dirty="0"/>
            </a:br>
            <a:r>
              <a:rPr lang="en-US" dirty="0"/>
              <a:t>1</a:t>
            </a:r>
            <a:r>
              <a:rPr lang="en-US" baseline="30000" dirty="0"/>
              <a:t>st</a:t>
            </a:r>
            <a:r>
              <a:rPr lang="en-US" dirty="0"/>
              <a:t> Standup</a:t>
            </a:r>
          </a:p>
        </p:txBody>
      </p:sp>
      <p:sp>
        <p:nvSpPr>
          <p:cNvPr id="5" name="Subtitle 4">
            <a:extLst>
              <a:ext uri="{FF2B5EF4-FFF2-40B4-BE49-F238E27FC236}">
                <a16:creationId xmlns:a16="http://schemas.microsoft.com/office/drawing/2014/main" id="{E31ED4A5-A8BD-2BD5-8777-3928F9207F95}"/>
              </a:ext>
            </a:extLst>
          </p:cNvPr>
          <p:cNvSpPr>
            <a:spLocks noGrp="1"/>
          </p:cNvSpPr>
          <p:nvPr>
            <p:ph type="subTitle" idx="1"/>
          </p:nvPr>
        </p:nvSpPr>
        <p:spPr>
          <a:xfrm>
            <a:off x="1323975" y="2466975"/>
            <a:ext cx="9144000" cy="714375"/>
          </a:xfrm>
        </p:spPr>
        <p:txBody>
          <a:bodyPr/>
          <a:lstStyle/>
          <a:p>
            <a:r>
              <a:rPr lang="en-US" dirty="0"/>
              <a:t>Team 24: </a:t>
            </a:r>
            <a:r>
              <a:rPr lang="en-US" dirty="0" err="1"/>
              <a:t>guga-fayrooz-seungdo-vishred</a:t>
            </a:r>
            <a:endParaRPr lang="en-US" dirty="0"/>
          </a:p>
        </p:txBody>
      </p:sp>
      <p:sp>
        <p:nvSpPr>
          <p:cNvPr id="7" name="TextBox 6">
            <a:extLst>
              <a:ext uri="{FF2B5EF4-FFF2-40B4-BE49-F238E27FC236}">
                <a16:creationId xmlns:a16="http://schemas.microsoft.com/office/drawing/2014/main" id="{7F1B6C5E-FD15-2720-4F78-872369F1CFB6}"/>
              </a:ext>
            </a:extLst>
          </p:cNvPr>
          <p:cNvSpPr txBox="1"/>
          <p:nvPr/>
        </p:nvSpPr>
        <p:spPr>
          <a:xfrm>
            <a:off x="2781300" y="3722688"/>
            <a:ext cx="7467600" cy="341632"/>
          </a:xfrm>
          <a:prstGeom prst="rect">
            <a:avLst/>
          </a:prstGeom>
          <a:noFill/>
        </p:spPr>
        <p:txBody>
          <a:bodyPr wrap="square">
            <a:spAutoFit/>
          </a:bodyPr>
          <a:lstStyle/>
          <a:p>
            <a:pPr marL="0" marR="0">
              <a:lnSpc>
                <a:spcPct val="90000"/>
              </a:lnSpc>
              <a:spcAft>
                <a:spcPts val="600"/>
              </a:spcAft>
              <a:buNone/>
            </a:pPr>
            <a:r>
              <a:rPr lang="en-US" sz="1800" b="1" kern="100" dirty="0">
                <a:effectLst/>
                <a:latin typeface="Times New Roman" panose="02020603050405020304" pitchFamily="18" charset="0"/>
                <a:ea typeface="Malgun Gothic" panose="020B0503020000020004" pitchFamily="34" charset="-127"/>
                <a:cs typeface="Times New Roman" panose="02020603050405020304" pitchFamily="18" charset="0"/>
              </a:rPr>
              <a:t>SIADS 699 - Team </a:t>
            </a:r>
            <a:r>
              <a:rPr lang="en-US" sz="1800" b="1" kern="100" dirty="0" err="1">
                <a:effectLst/>
                <a:latin typeface="Times New Roman" panose="02020603050405020304" pitchFamily="18" charset="0"/>
                <a:ea typeface="Malgun Gothic" panose="020B0503020000020004" pitchFamily="34" charset="-127"/>
                <a:cs typeface="Times New Roman" panose="02020603050405020304" pitchFamily="18" charset="0"/>
              </a:rPr>
              <a:t>BrakeGuard</a:t>
            </a:r>
            <a:r>
              <a:rPr lang="en-US" sz="1800" b="1" kern="100" dirty="0">
                <a:effectLst/>
                <a:latin typeface="Times New Roman" panose="02020603050405020304" pitchFamily="18" charset="0"/>
                <a:ea typeface="Malgun Gothic" panose="020B0503020000020004" pitchFamily="34" charset="-127"/>
                <a:cs typeface="Times New Roman" panose="02020603050405020304" pitchFamily="18" charset="0"/>
              </a:rPr>
              <a:t> –  Truck Fleet Failure Prediction</a:t>
            </a:r>
            <a:endParaRPr lang="en-US" sz="20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614945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0CFEA-35BE-1DAD-E0AD-EE768084ABC5}"/>
              </a:ext>
            </a:extLst>
          </p:cNvPr>
          <p:cNvSpPr>
            <a:spLocks noGrp="1"/>
          </p:cNvSpPr>
          <p:nvPr>
            <p:ph type="title"/>
          </p:nvPr>
        </p:nvSpPr>
        <p:spPr>
          <a:xfrm>
            <a:off x="676275" y="111125"/>
            <a:ext cx="10515600" cy="701675"/>
          </a:xfrm>
        </p:spPr>
        <p:txBody>
          <a:bodyPr/>
          <a:lstStyle/>
          <a:p>
            <a:r>
              <a:rPr lang="en-US" dirty="0"/>
              <a:t>Project Description</a:t>
            </a:r>
          </a:p>
        </p:txBody>
      </p:sp>
      <p:sp>
        <p:nvSpPr>
          <p:cNvPr id="3" name="Content Placeholder 2">
            <a:extLst>
              <a:ext uri="{FF2B5EF4-FFF2-40B4-BE49-F238E27FC236}">
                <a16:creationId xmlns:a16="http://schemas.microsoft.com/office/drawing/2014/main" id="{9A6A2C86-ED18-58FB-37D0-0CDE85E1EDCA}"/>
              </a:ext>
            </a:extLst>
          </p:cNvPr>
          <p:cNvSpPr>
            <a:spLocks noGrp="1"/>
          </p:cNvSpPr>
          <p:nvPr>
            <p:ph idx="1"/>
          </p:nvPr>
        </p:nvSpPr>
        <p:spPr>
          <a:xfrm>
            <a:off x="417711" y="812800"/>
            <a:ext cx="7896225" cy="5264964"/>
          </a:xfrm>
        </p:spPr>
        <p:txBody>
          <a:bodyPr>
            <a:normAutofit lnSpcReduction="10000"/>
          </a:bodyPr>
          <a:lstStyle/>
          <a:p>
            <a:pPr marL="0" indent="0">
              <a:buNone/>
            </a:pPr>
            <a:r>
              <a:rPr lang="en-US" sz="2000" dirty="0"/>
              <a:t>Trucks have two types of brake.  One is the friction-type brake, similar to our car brakes.  Another type of brake is These devices achieve braking force by blocking the exhaust pipe, thereby compressing the exhaust gas and consuming kinetic energy.</a:t>
            </a:r>
          </a:p>
          <a:p>
            <a:pPr marL="0" indent="0">
              <a:buNone/>
            </a:pPr>
            <a:r>
              <a:rPr lang="en-US" sz="2000" dirty="0"/>
              <a:t>Failure of the exhaust brake in trucks are very risky and catastrophic and truck fleet operators want to know if the braking system is going to fail ahead of time to do preventive maintenance.  </a:t>
            </a:r>
          </a:p>
          <a:p>
            <a:pPr marL="0" indent="0">
              <a:buNone/>
            </a:pPr>
            <a:r>
              <a:rPr lang="en-US" sz="2000" dirty="0"/>
              <a:t>Early detection of exhaust brake system degradation using onboard sensor telemetry data (onboard sensor and diagnostic data) from a diesel truck fleet. </a:t>
            </a:r>
          </a:p>
          <a:p>
            <a:pPr lvl="1"/>
            <a:r>
              <a:rPr lang="en-US" sz="1800" dirty="0"/>
              <a:t>Can we detect early signs of exhaust brake degradation before a field failure occurs?</a:t>
            </a:r>
          </a:p>
          <a:p>
            <a:pPr lvl="1"/>
            <a:r>
              <a:rPr lang="en-US" sz="1800" dirty="0"/>
              <a:t>How do supervised and unsupervised learning methods compare in identifying anomalous braking behavior?</a:t>
            </a:r>
          </a:p>
          <a:p>
            <a:pPr lvl="1"/>
            <a:r>
              <a:rPr lang="en-US" sz="1800" dirty="0"/>
              <a:t>Can we construct machine learning method or just machine learning methods to enable mask to isolate valid braking events and improve detection accuracy?</a:t>
            </a:r>
          </a:p>
          <a:p>
            <a:pPr lvl="1"/>
            <a:r>
              <a:rPr lang="en-US" sz="1800" dirty="0"/>
              <a:t>How can cost-sensitive modeling better reflect real-world fleet operational risks</a:t>
            </a:r>
          </a:p>
        </p:txBody>
      </p:sp>
      <p:pic>
        <p:nvPicPr>
          <p:cNvPr id="5" name="Picture 4">
            <a:extLst>
              <a:ext uri="{FF2B5EF4-FFF2-40B4-BE49-F238E27FC236}">
                <a16:creationId xmlns:a16="http://schemas.microsoft.com/office/drawing/2014/main" id="{C5997FB5-0848-5C7C-4FC9-BF5771A4EF1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710612" y="365125"/>
            <a:ext cx="3157538" cy="2105025"/>
          </a:xfrm>
          <a:prstGeom prst="rect">
            <a:avLst/>
          </a:prstGeom>
          <a:ln>
            <a:noFill/>
          </a:ln>
          <a:effectLst>
            <a:outerShdw blurRad="292100" dist="139700" dir="2700000" algn="tl" rotWithShape="0">
              <a:srgbClr val="333333">
                <a:alpha val="65000"/>
              </a:srgbClr>
            </a:outerShdw>
          </a:effectLst>
        </p:spPr>
      </p:pic>
      <p:pic>
        <p:nvPicPr>
          <p:cNvPr id="4098" name="Picture 2" descr="Fig. 1">
            <a:extLst>
              <a:ext uri="{FF2B5EF4-FFF2-40B4-BE49-F238E27FC236}">
                <a16:creationId xmlns:a16="http://schemas.microsoft.com/office/drawing/2014/main" id="{FC7648C3-97B7-51D6-7ED4-27B8D44BD1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0612" y="5302250"/>
            <a:ext cx="3393221" cy="13811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ig. 3">
            <a:extLst>
              <a:ext uri="{FF2B5EF4-FFF2-40B4-BE49-F238E27FC236}">
                <a16:creationId xmlns:a16="http://schemas.microsoft.com/office/drawing/2014/main" id="{DC32C160-E3BA-87E5-7367-4E831F5372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0533" y="2724150"/>
            <a:ext cx="3033378" cy="20193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0BF8F4D-73B6-42EA-F4A0-A9F5A218B991}"/>
              </a:ext>
            </a:extLst>
          </p:cNvPr>
          <p:cNvSpPr txBox="1"/>
          <p:nvPr/>
        </p:nvSpPr>
        <p:spPr>
          <a:xfrm>
            <a:off x="4848224" y="6215876"/>
            <a:ext cx="7896225" cy="276999"/>
          </a:xfrm>
          <a:prstGeom prst="rect">
            <a:avLst/>
          </a:prstGeom>
          <a:noFill/>
        </p:spPr>
        <p:txBody>
          <a:bodyPr wrap="square">
            <a:spAutoFit/>
          </a:bodyPr>
          <a:lstStyle/>
          <a:p>
            <a:r>
              <a:rPr lang="en-US" sz="1200" dirty="0"/>
              <a:t>https://link.springer.com/article/10.1007/s42835-022-01325-7</a:t>
            </a:r>
          </a:p>
        </p:txBody>
      </p:sp>
    </p:spTree>
    <p:extLst>
      <p:ext uri="{BB962C8B-B14F-4D97-AF65-F5344CB8AC3E}">
        <p14:creationId xmlns:p14="http://schemas.microsoft.com/office/powerpoint/2010/main" val="323907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FABC-93DE-B447-F36B-CA668A998E26}"/>
              </a:ext>
            </a:extLst>
          </p:cNvPr>
          <p:cNvSpPr>
            <a:spLocks noGrp="1"/>
          </p:cNvSpPr>
          <p:nvPr>
            <p:ph type="title"/>
          </p:nvPr>
        </p:nvSpPr>
        <p:spPr>
          <a:xfrm>
            <a:off x="600075" y="174625"/>
            <a:ext cx="10515600" cy="796925"/>
          </a:xfrm>
        </p:spPr>
        <p:txBody>
          <a:bodyPr/>
          <a:lstStyle/>
          <a:p>
            <a:r>
              <a:rPr lang="en-US" b="1" dirty="0"/>
              <a:t>What did the team do last week?</a:t>
            </a:r>
          </a:p>
        </p:txBody>
      </p:sp>
      <p:sp>
        <p:nvSpPr>
          <p:cNvPr id="3" name="Content Placeholder 2">
            <a:extLst>
              <a:ext uri="{FF2B5EF4-FFF2-40B4-BE49-F238E27FC236}">
                <a16:creationId xmlns:a16="http://schemas.microsoft.com/office/drawing/2014/main" id="{293EFFDF-3DAC-761A-5ACF-A6393165C88F}"/>
              </a:ext>
            </a:extLst>
          </p:cNvPr>
          <p:cNvSpPr>
            <a:spLocks noGrp="1"/>
          </p:cNvSpPr>
          <p:nvPr>
            <p:ph idx="1"/>
          </p:nvPr>
        </p:nvSpPr>
        <p:spPr>
          <a:xfrm>
            <a:off x="933450" y="1720850"/>
            <a:ext cx="10515600" cy="2841625"/>
          </a:xfrm>
        </p:spPr>
        <p:txBody>
          <a:bodyPr>
            <a:normAutofit lnSpcReduction="10000"/>
          </a:bodyPr>
          <a:lstStyle/>
          <a:p>
            <a:r>
              <a:rPr lang="en-US" dirty="0"/>
              <a:t>Large amount of data</a:t>
            </a:r>
          </a:p>
          <a:p>
            <a:pPr lvl="1"/>
            <a:r>
              <a:rPr lang="en-US" dirty="0"/>
              <a:t>&gt;90 vehicle data multiple years</a:t>
            </a:r>
          </a:p>
          <a:p>
            <a:r>
              <a:rPr lang="en-US" dirty="0"/>
              <a:t>Worked on</a:t>
            </a:r>
          </a:p>
          <a:p>
            <a:pPr lvl="1"/>
            <a:r>
              <a:rPr lang="en-US" dirty="0"/>
              <a:t>Combining the data</a:t>
            </a:r>
          </a:p>
          <a:p>
            <a:pPr lvl="1"/>
            <a:r>
              <a:rPr lang="en-US" dirty="0"/>
              <a:t>Data cleaning</a:t>
            </a:r>
          </a:p>
          <a:p>
            <a:pPr lvl="1"/>
            <a:r>
              <a:rPr lang="en-US" dirty="0"/>
              <a:t>Data processing</a:t>
            </a:r>
          </a:p>
          <a:p>
            <a:pPr lvl="1"/>
            <a:r>
              <a:rPr lang="en-US" dirty="0"/>
              <a:t>Segmenting data for braking event</a:t>
            </a:r>
          </a:p>
        </p:txBody>
      </p:sp>
    </p:spTree>
    <p:extLst>
      <p:ext uri="{BB962C8B-B14F-4D97-AF65-F5344CB8AC3E}">
        <p14:creationId xmlns:p14="http://schemas.microsoft.com/office/powerpoint/2010/main" val="676089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8DE59-518B-E54F-7B14-8DF900CB9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0CCE1-5681-0BC8-BBDB-C1B7A6590286}"/>
              </a:ext>
            </a:extLst>
          </p:cNvPr>
          <p:cNvSpPr>
            <a:spLocks noGrp="1"/>
          </p:cNvSpPr>
          <p:nvPr>
            <p:ph type="title"/>
          </p:nvPr>
        </p:nvSpPr>
        <p:spPr>
          <a:xfrm>
            <a:off x="277761" y="129905"/>
            <a:ext cx="10515600" cy="1325563"/>
          </a:xfrm>
        </p:spPr>
        <p:txBody>
          <a:bodyPr>
            <a:normAutofit/>
          </a:bodyPr>
          <a:lstStyle/>
          <a:p>
            <a:r>
              <a:rPr lang="en-US" sz="3600" dirty="0"/>
              <a:t>Signals</a:t>
            </a:r>
          </a:p>
        </p:txBody>
      </p:sp>
      <p:sp>
        <p:nvSpPr>
          <p:cNvPr id="3" name="Footer Placeholder 2">
            <a:extLst>
              <a:ext uri="{FF2B5EF4-FFF2-40B4-BE49-F238E27FC236}">
                <a16:creationId xmlns:a16="http://schemas.microsoft.com/office/drawing/2014/main" id="{77E218F9-6C7B-0878-3208-94D0E3068490}"/>
              </a:ext>
            </a:extLst>
          </p:cNvPr>
          <p:cNvSpPr>
            <a:spLocks noGrp="1"/>
          </p:cNvSpPr>
          <p:nvPr>
            <p:ph type="ftr" sz="quarter" idx="10"/>
          </p:nvPr>
        </p:nvSpPr>
        <p:spPr/>
        <p:txBody>
          <a:bodyPr/>
          <a:lstStyle/>
          <a:p>
            <a:r>
              <a:rPr lang="pt-BR"/>
              <a:t>C O N F I D E N T I A L</a:t>
            </a:r>
            <a:endParaRPr lang="en-US"/>
          </a:p>
        </p:txBody>
      </p:sp>
      <p:sp>
        <p:nvSpPr>
          <p:cNvPr id="4" name="Slide Number Placeholder 3">
            <a:extLst>
              <a:ext uri="{FF2B5EF4-FFF2-40B4-BE49-F238E27FC236}">
                <a16:creationId xmlns:a16="http://schemas.microsoft.com/office/drawing/2014/main" id="{0A8D8844-E804-3CBD-18B3-DA409F72DED1}"/>
              </a:ext>
            </a:extLst>
          </p:cNvPr>
          <p:cNvSpPr>
            <a:spLocks noGrp="1"/>
          </p:cNvSpPr>
          <p:nvPr>
            <p:ph type="sldNum" sz="quarter" idx="11"/>
          </p:nvPr>
        </p:nvSpPr>
        <p:spPr/>
        <p:txBody>
          <a:bodyPr/>
          <a:lstStyle/>
          <a:p>
            <a:fld id="{05298CB1-4000-4C34-8BE7-DC1D93D92EBB}" type="slidenum">
              <a:rPr lang="en-US" smtClean="0"/>
              <a:pPr/>
              <a:t>27</a:t>
            </a:fld>
            <a:endParaRPr lang="en-US"/>
          </a:p>
        </p:txBody>
      </p:sp>
      <p:pic>
        <p:nvPicPr>
          <p:cNvPr id="7" name="Content Placeholder 6">
            <a:extLst>
              <a:ext uri="{FF2B5EF4-FFF2-40B4-BE49-F238E27FC236}">
                <a16:creationId xmlns:a16="http://schemas.microsoft.com/office/drawing/2014/main" id="{6BFD0DB9-6030-5C32-C96F-F02703C59375}"/>
              </a:ext>
            </a:extLst>
          </p:cNvPr>
          <p:cNvPicPr>
            <a:picLocks noGrp="1" noChangeAspect="1"/>
          </p:cNvPicPr>
          <p:nvPr>
            <p:ph sz="quarter" idx="12"/>
          </p:nvPr>
        </p:nvPicPr>
        <p:blipFill>
          <a:blip r:embed="rId2"/>
          <a:stretch>
            <a:fillRect/>
          </a:stretch>
        </p:blipFill>
        <p:spPr>
          <a:xfrm>
            <a:off x="1675650" y="735166"/>
            <a:ext cx="6624972" cy="5716981"/>
          </a:xfrm>
        </p:spPr>
      </p:pic>
      <p:sp>
        <p:nvSpPr>
          <p:cNvPr id="8" name="TextBox 7">
            <a:extLst>
              <a:ext uri="{FF2B5EF4-FFF2-40B4-BE49-F238E27FC236}">
                <a16:creationId xmlns:a16="http://schemas.microsoft.com/office/drawing/2014/main" id="{A9142541-7391-5D74-32E7-F57F73C42188}"/>
              </a:ext>
            </a:extLst>
          </p:cNvPr>
          <p:cNvSpPr txBox="1"/>
          <p:nvPr/>
        </p:nvSpPr>
        <p:spPr>
          <a:xfrm>
            <a:off x="6413201" y="3325803"/>
            <a:ext cx="2537888" cy="1107996"/>
          </a:xfrm>
          <a:prstGeom prst="rect">
            <a:avLst/>
          </a:prstGeom>
          <a:noFill/>
        </p:spPr>
        <p:txBody>
          <a:bodyPr wrap="square" lIns="0" tIns="0" rIns="0" bIns="0" rtlCol="0">
            <a:spAutoFit/>
          </a:bodyPr>
          <a:lstStyle/>
          <a:p>
            <a:pPr algn="ctr"/>
            <a:r>
              <a:rPr lang="en-US" dirty="0"/>
              <a:t>During the failure of the valve, the change in speed is slower</a:t>
            </a:r>
          </a:p>
          <a:p>
            <a:pPr algn="ctr"/>
            <a:r>
              <a:rPr lang="en-US" dirty="0"/>
              <a:t>Especially at 40mph</a:t>
            </a:r>
          </a:p>
        </p:txBody>
      </p:sp>
      <p:cxnSp>
        <p:nvCxnSpPr>
          <p:cNvPr id="10" name="Connector: Elbow 9">
            <a:extLst>
              <a:ext uri="{FF2B5EF4-FFF2-40B4-BE49-F238E27FC236}">
                <a16:creationId xmlns:a16="http://schemas.microsoft.com/office/drawing/2014/main" id="{3AA2D547-DD63-F865-1613-5DA8046AEB38}"/>
              </a:ext>
            </a:extLst>
          </p:cNvPr>
          <p:cNvCxnSpPr>
            <a:cxnSpLocks/>
          </p:cNvCxnSpPr>
          <p:nvPr/>
        </p:nvCxnSpPr>
        <p:spPr>
          <a:xfrm rot="5400000">
            <a:off x="4408023" y="641273"/>
            <a:ext cx="752968" cy="5493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38360FB-53E4-9C9C-A4B5-A4B0D64665C0}"/>
              </a:ext>
            </a:extLst>
          </p:cNvPr>
          <p:cNvCxnSpPr/>
          <p:nvPr/>
        </p:nvCxnSpPr>
        <p:spPr>
          <a:xfrm>
            <a:off x="1908699" y="1775534"/>
            <a:ext cx="1819922"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C4E4734-6B8B-1C09-1E0C-31BD96DB76B6}"/>
              </a:ext>
            </a:extLst>
          </p:cNvPr>
          <p:cNvSpPr txBox="1"/>
          <p:nvPr/>
        </p:nvSpPr>
        <p:spPr>
          <a:xfrm>
            <a:off x="943010" y="1526919"/>
            <a:ext cx="963405" cy="369332"/>
          </a:xfrm>
          <a:prstGeom prst="rect">
            <a:avLst/>
          </a:prstGeom>
          <a:noFill/>
        </p:spPr>
        <p:txBody>
          <a:bodyPr wrap="none" lIns="0" tIns="0" rIns="0" bIns="0" rtlCol="0">
            <a:spAutoFit/>
          </a:bodyPr>
          <a:lstStyle/>
          <a:p>
            <a:pPr algn="l"/>
            <a:r>
              <a:rPr lang="en-US" sz="1200" dirty="0">
                <a:solidFill>
                  <a:srgbClr val="FF0000"/>
                </a:solidFill>
              </a:rPr>
              <a:t>Engine </a:t>
            </a:r>
          </a:p>
          <a:p>
            <a:pPr algn="l"/>
            <a:r>
              <a:rPr lang="en-US" sz="1200" dirty="0">
                <a:solidFill>
                  <a:srgbClr val="FF0000"/>
                </a:solidFill>
              </a:rPr>
              <a:t>Retarder is on</a:t>
            </a:r>
          </a:p>
        </p:txBody>
      </p:sp>
      <p:sp>
        <p:nvSpPr>
          <p:cNvPr id="16" name="TextBox 15">
            <a:extLst>
              <a:ext uri="{FF2B5EF4-FFF2-40B4-BE49-F238E27FC236}">
                <a16:creationId xmlns:a16="http://schemas.microsoft.com/office/drawing/2014/main" id="{7C8455B6-822F-59A0-3060-CEABC6EE69F1}"/>
              </a:ext>
            </a:extLst>
          </p:cNvPr>
          <p:cNvSpPr txBox="1"/>
          <p:nvPr/>
        </p:nvSpPr>
        <p:spPr>
          <a:xfrm>
            <a:off x="446732" y="2005465"/>
            <a:ext cx="1725197" cy="484748"/>
          </a:xfrm>
          <a:prstGeom prst="rect">
            <a:avLst/>
          </a:prstGeom>
          <a:noFill/>
        </p:spPr>
        <p:txBody>
          <a:bodyPr wrap="square" lIns="0" tIns="0" rIns="0" bIns="0" rtlCol="0">
            <a:spAutoFit/>
          </a:bodyPr>
          <a:lstStyle/>
          <a:p>
            <a:r>
              <a:rPr lang="en-US" sz="1050" dirty="0">
                <a:solidFill>
                  <a:srgbClr val="92D050"/>
                </a:solidFill>
              </a:rPr>
              <a:t>Exhaust back pressure</a:t>
            </a:r>
          </a:p>
          <a:p>
            <a:r>
              <a:rPr lang="en-US" sz="1050" dirty="0">
                <a:solidFill>
                  <a:srgbClr val="92D050"/>
                </a:solidFill>
              </a:rPr>
              <a:t>Is budling up and then </a:t>
            </a:r>
          </a:p>
          <a:p>
            <a:r>
              <a:rPr lang="en-US" sz="1050" dirty="0">
                <a:solidFill>
                  <a:srgbClr val="92D050"/>
                </a:solidFill>
              </a:rPr>
              <a:t>reduces due to zero fuel</a:t>
            </a:r>
          </a:p>
        </p:txBody>
      </p:sp>
      <p:cxnSp>
        <p:nvCxnSpPr>
          <p:cNvPr id="18" name="Straight Arrow Connector 17">
            <a:extLst>
              <a:ext uri="{FF2B5EF4-FFF2-40B4-BE49-F238E27FC236}">
                <a16:creationId xmlns:a16="http://schemas.microsoft.com/office/drawing/2014/main" id="{62A7E72D-F2C8-BE1D-1753-3C598E000011}"/>
              </a:ext>
            </a:extLst>
          </p:cNvPr>
          <p:cNvCxnSpPr>
            <a:cxnSpLocks/>
          </p:cNvCxnSpPr>
          <p:nvPr/>
        </p:nvCxnSpPr>
        <p:spPr>
          <a:xfrm flipV="1">
            <a:off x="1917415" y="2219531"/>
            <a:ext cx="1811206" cy="5845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6C2223F6-57FD-9224-BCEB-1E95C7BE6E1F}"/>
              </a:ext>
            </a:extLst>
          </p:cNvPr>
          <p:cNvPicPr>
            <a:picLocks noChangeAspect="1"/>
          </p:cNvPicPr>
          <p:nvPr/>
        </p:nvPicPr>
        <p:blipFill>
          <a:blip r:embed="rId3"/>
          <a:stretch>
            <a:fillRect/>
          </a:stretch>
        </p:blipFill>
        <p:spPr>
          <a:xfrm>
            <a:off x="9254122" y="360459"/>
            <a:ext cx="2237804" cy="5708455"/>
          </a:xfrm>
          <a:prstGeom prst="rect">
            <a:avLst/>
          </a:prstGeom>
        </p:spPr>
      </p:pic>
      <p:sp>
        <p:nvSpPr>
          <p:cNvPr id="25" name="Rectangle 24">
            <a:extLst>
              <a:ext uri="{FF2B5EF4-FFF2-40B4-BE49-F238E27FC236}">
                <a16:creationId xmlns:a16="http://schemas.microsoft.com/office/drawing/2014/main" id="{7239CEFE-3E77-5A9B-A685-04E5B2BE6E22}"/>
              </a:ext>
            </a:extLst>
          </p:cNvPr>
          <p:cNvSpPr/>
          <p:nvPr/>
        </p:nvSpPr>
        <p:spPr>
          <a:xfrm>
            <a:off x="3442447" y="632106"/>
            <a:ext cx="1067410" cy="58200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26" name="TextBox 25">
            <a:extLst>
              <a:ext uri="{FF2B5EF4-FFF2-40B4-BE49-F238E27FC236}">
                <a16:creationId xmlns:a16="http://schemas.microsoft.com/office/drawing/2014/main" id="{142F4617-1122-CB4E-8DDF-A6DB4B518584}"/>
              </a:ext>
            </a:extLst>
          </p:cNvPr>
          <p:cNvSpPr txBox="1"/>
          <p:nvPr/>
        </p:nvSpPr>
        <p:spPr>
          <a:xfrm>
            <a:off x="152144" y="5084896"/>
            <a:ext cx="1581733" cy="830997"/>
          </a:xfrm>
          <a:prstGeom prst="rect">
            <a:avLst/>
          </a:prstGeom>
          <a:solidFill>
            <a:srgbClr val="FFC000"/>
          </a:solidFill>
        </p:spPr>
        <p:txBody>
          <a:bodyPr wrap="square" lIns="0" tIns="0" rIns="0" bIns="0" rtlCol="0">
            <a:spAutoFit/>
          </a:bodyPr>
          <a:lstStyle/>
          <a:p>
            <a:pPr algn="ctr"/>
            <a:r>
              <a:rPr lang="en-US" dirty="0"/>
              <a:t>Details in this window</a:t>
            </a:r>
          </a:p>
          <a:p>
            <a:pPr algn="ctr"/>
            <a:r>
              <a:rPr lang="en-US" dirty="0"/>
              <a:t> of data</a:t>
            </a:r>
          </a:p>
        </p:txBody>
      </p:sp>
      <p:cxnSp>
        <p:nvCxnSpPr>
          <p:cNvPr id="28" name="Straight Arrow Connector 27">
            <a:extLst>
              <a:ext uri="{FF2B5EF4-FFF2-40B4-BE49-F238E27FC236}">
                <a16:creationId xmlns:a16="http://schemas.microsoft.com/office/drawing/2014/main" id="{4A40A571-C942-A543-90B2-0867DB3BC1EE}"/>
              </a:ext>
            </a:extLst>
          </p:cNvPr>
          <p:cNvCxnSpPr>
            <a:cxnSpLocks/>
            <a:stCxn id="26" idx="3"/>
          </p:cNvCxnSpPr>
          <p:nvPr/>
        </p:nvCxnSpPr>
        <p:spPr>
          <a:xfrm>
            <a:off x="1733877" y="5500395"/>
            <a:ext cx="1708570" cy="622439"/>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FACB8BE-499C-50C9-E192-5D4403ACCBC7}"/>
              </a:ext>
            </a:extLst>
          </p:cNvPr>
          <p:cNvSpPr txBox="1"/>
          <p:nvPr/>
        </p:nvSpPr>
        <p:spPr>
          <a:xfrm>
            <a:off x="3655918" y="2501383"/>
            <a:ext cx="761427" cy="215444"/>
          </a:xfrm>
          <a:prstGeom prst="rect">
            <a:avLst/>
          </a:prstGeom>
          <a:noFill/>
        </p:spPr>
        <p:txBody>
          <a:bodyPr wrap="none" lIns="0" tIns="0" rIns="0" bIns="0" rtlCol="0">
            <a:spAutoFit/>
          </a:bodyPr>
          <a:lstStyle/>
          <a:p>
            <a:pPr algn="l"/>
            <a:r>
              <a:rPr lang="en-US" sz="1400" dirty="0"/>
              <a:t>Pedal = 0</a:t>
            </a:r>
          </a:p>
        </p:txBody>
      </p:sp>
      <p:sp>
        <p:nvSpPr>
          <p:cNvPr id="32" name="TextBox 31">
            <a:extLst>
              <a:ext uri="{FF2B5EF4-FFF2-40B4-BE49-F238E27FC236}">
                <a16:creationId xmlns:a16="http://schemas.microsoft.com/office/drawing/2014/main" id="{DD740F88-5A36-3CDF-5F22-E95F3D198B3A}"/>
              </a:ext>
            </a:extLst>
          </p:cNvPr>
          <p:cNvSpPr txBox="1"/>
          <p:nvPr/>
        </p:nvSpPr>
        <p:spPr>
          <a:xfrm>
            <a:off x="4063508" y="1560090"/>
            <a:ext cx="468077" cy="161583"/>
          </a:xfrm>
          <a:prstGeom prst="rect">
            <a:avLst/>
          </a:prstGeom>
          <a:noFill/>
        </p:spPr>
        <p:txBody>
          <a:bodyPr wrap="none" lIns="0" tIns="0" rIns="0" bIns="0" rtlCol="0">
            <a:spAutoFit/>
          </a:bodyPr>
          <a:lstStyle/>
          <a:p>
            <a:pPr algn="l"/>
            <a:r>
              <a:rPr lang="en-US" sz="1050" dirty="0"/>
              <a:t>State=1</a:t>
            </a:r>
          </a:p>
        </p:txBody>
      </p:sp>
      <p:sp>
        <p:nvSpPr>
          <p:cNvPr id="36" name="TextBox 35">
            <a:extLst>
              <a:ext uri="{FF2B5EF4-FFF2-40B4-BE49-F238E27FC236}">
                <a16:creationId xmlns:a16="http://schemas.microsoft.com/office/drawing/2014/main" id="{45E0DA2C-6BD4-D08B-7EF2-9DE35F84831B}"/>
              </a:ext>
            </a:extLst>
          </p:cNvPr>
          <p:cNvSpPr txBox="1"/>
          <p:nvPr/>
        </p:nvSpPr>
        <p:spPr>
          <a:xfrm>
            <a:off x="3595438" y="4033452"/>
            <a:ext cx="650819" cy="215444"/>
          </a:xfrm>
          <a:prstGeom prst="rect">
            <a:avLst/>
          </a:prstGeom>
          <a:noFill/>
        </p:spPr>
        <p:txBody>
          <a:bodyPr wrap="none" lIns="0" tIns="0" rIns="0" bIns="0" rtlCol="0">
            <a:spAutoFit/>
          </a:bodyPr>
          <a:lstStyle/>
          <a:p>
            <a:pPr algn="l"/>
            <a:r>
              <a:rPr lang="en-US" sz="1400" dirty="0"/>
              <a:t>Fuel ~ 0</a:t>
            </a:r>
          </a:p>
        </p:txBody>
      </p:sp>
      <p:sp>
        <p:nvSpPr>
          <p:cNvPr id="37" name="TextBox 36">
            <a:extLst>
              <a:ext uri="{FF2B5EF4-FFF2-40B4-BE49-F238E27FC236}">
                <a16:creationId xmlns:a16="http://schemas.microsoft.com/office/drawing/2014/main" id="{8F0DC935-14C3-DF2E-C961-72E878519366}"/>
              </a:ext>
            </a:extLst>
          </p:cNvPr>
          <p:cNvSpPr txBox="1"/>
          <p:nvPr/>
        </p:nvSpPr>
        <p:spPr>
          <a:xfrm>
            <a:off x="3488744" y="4796213"/>
            <a:ext cx="1021113" cy="161583"/>
          </a:xfrm>
          <a:prstGeom prst="rect">
            <a:avLst/>
          </a:prstGeom>
          <a:noFill/>
        </p:spPr>
        <p:txBody>
          <a:bodyPr wrap="none" lIns="0" tIns="0" rIns="0" bIns="0" rtlCol="0">
            <a:spAutoFit/>
          </a:bodyPr>
          <a:lstStyle/>
          <a:p>
            <a:pPr algn="l"/>
            <a:r>
              <a:rPr lang="en-US" sz="1050" dirty="0"/>
              <a:t>Rpm slows down</a:t>
            </a:r>
          </a:p>
        </p:txBody>
      </p:sp>
      <p:sp>
        <p:nvSpPr>
          <p:cNvPr id="40" name="TextBox 39">
            <a:extLst>
              <a:ext uri="{FF2B5EF4-FFF2-40B4-BE49-F238E27FC236}">
                <a16:creationId xmlns:a16="http://schemas.microsoft.com/office/drawing/2014/main" id="{7ADB20CB-C611-DA95-AA15-114D4E1E5AB5}"/>
              </a:ext>
            </a:extLst>
          </p:cNvPr>
          <p:cNvSpPr txBox="1"/>
          <p:nvPr/>
        </p:nvSpPr>
        <p:spPr>
          <a:xfrm>
            <a:off x="3800553" y="5170920"/>
            <a:ext cx="506549" cy="161583"/>
          </a:xfrm>
          <a:prstGeom prst="rect">
            <a:avLst/>
          </a:prstGeom>
          <a:noFill/>
        </p:spPr>
        <p:txBody>
          <a:bodyPr wrap="none" lIns="0" tIns="0" rIns="0" bIns="0" rtlCol="0">
            <a:spAutoFit/>
          </a:bodyPr>
          <a:lstStyle/>
          <a:p>
            <a:pPr algn="l"/>
            <a:r>
              <a:rPr lang="en-US" sz="1050" dirty="0" err="1"/>
              <a:t>Torqe</a:t>
            </a:r>
            <a:r>
              <a:rPr lang="en-US" sz="1050" dirty="0"/>
              <a:t>=0</a:t>
            </a:r>
          </a:p>
        </p:txBody>
      </p:sp>
      <p:sp>
        <p:nvSpPr>
          <p:cNvPr id="5" name="Title 1">
            <a:extLst>
              <a:ext uri="{FF2B5EF4-FFF2-40B4-BE49-F238E27FC236}">
                <a16:creationId xmlns:a16="http://schemas.microsoft.com/office/drawing/2014/main" id="{8C64DB4D-BD8F-D543-880B-C962DD97201C}"/>
              </a:ext>
            </a:extLst>
          </p:cNvPr>
          <p:cNvSpPr txBox="1">
            <a:spLocks/>
          </p:cNvSpPr>
          <p:nvPr/>
        </p:nvSpPr>
        <p:spPr>
          <a:xfrm>
            <a:off x="277761" y="117495"/>
            <a:ext cx="10515600" cy="423961"/>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What are we working now?</a:t>
            </a:r>
          </a:p>
        </p:txBody>
      </p:sp>
    </p:spTree>
    <p:extLst>
      <p:ext uri="{BB962C8B-B14F-4D97-AF65-F5344CB8AC3E}">
        <p14:creationId xmlns:p14="http://schemas.microsoft.com/office/powerpoint/2010/main" val="1165291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FB877-0C69-81A0-2180-9C826CC666F7}"/>
              </a:ext>
            </a:extLst>
          </p:cNvPr>
          <p:cNvSpPr>
            <a:spLocks noGrp="1"/>
          </p:cNvSpPr>
          <p:nvPr>
            <p:ph type="title"/>
          </p:nvPr>
        </p:nvSpPr>
        <p:spPr>
          <a:xfrm>
            <a:off x="838200" y="365125"/>
            <a:ext cx="10515600" cy="434975"/>
          </a:xfrm>
        </p:spPr>
        <p:txBody>
          <a:bodyPr>
            <a:normAutofit fontScale="90000"/>
          </a:bodyPr>
          <a:lstStyle/>
          <a:p>
            <a:r>
              <a:rPr lang="en-US" dirty="0"/>
              <a:t>What issues are blocking?</a:t>
            </a:r>
          </a:p>
        </p:txBody>
      </p:sp>
      <p:sp>
        <p:nvSpPr>
          <p:cNvPr id="3" name="Content Placeholder 2">
            <a:extLst>
              <a:ext uri="{FF2B5EF4-FFF2-40B4-BE49-F238E27FC236}">
                <a16:creationId xmlns:a16="http://schemas.microsoft.com/office/drawing/2014/main" id="{91F44504-6A7C-4351-1CCE-76ED8D04DBAB}"/>
              </a:ext>
            </a:extLst>
          </p:cNvPr>
          <p:cNvSpPr>
            <a:spLocks noGrp="1"/>
          </p:cNvSpPr>
          <p:nvPr>
            <p:ph sz="quarter" idx="12"/>
          </p:nvPr>
        </p:nvSpPr>
        <p:spPr>
          <a:xfrm>
            <a:off x="920751" y="1590674"/>
            <a:ext cx="10272712" cy="4343401"/>
          </a:xfrm>
        </p:spPr>
        <p:txBody>
          <a:bodyPr/>
          <a:lstStyle/>
          <a:p>
            <a:r>
              <a:rPr lang="en-US" dirty="0"/>
              <a:t>Team is three different time zones?  </a:t>
            </a:r>
          </a:p>
          <a:p>
            <a:pPr lvl="1"/>
            <a:r>
              <a:rPr lang="en-US" dirty="0"/>
              <a:t>US, Middle East, Asia</a:t>
            </a:r>
          </a:p>
          <a:p>
            <a:r>
              <a:rPr lang="en-US" dirty="0"/>
              <a:t>Model training data  and data leak </a:t>
            </a:r>
          </a:p>
          <a:p>
            <a:r>
              <a:rPr lang="en-US" dirty="0"/>
              <a:t>Planning to discuss with the mentor</a:t>
            </a:r>
          </a:p>
        </p:txBody>
      </p:sp>
      <p:sp>
        <p:nvSpPr>
          <p:cNvPr id="4" name="TextBox 3">
            <a:extLst>
              <a:ext uri="{FF2B5EF4-FFF2-40B4-BE49-F238E27FC236}">
                <a16:creationId xmlns:a16="http://schemas.microsoft.com/office/drawing/2014/main" id="{7D457754-7B67-DDB0-9887-BFE5567FC127}"/>
              </a:ext>
            </a:extLst>
          </p:cNvPr>
          <p:cNvSpPr txBox="1"/>
          <p:nvPr/>
        </p:nvSpPr>
        <p:spPr>
          <a:xfrm>
            <a:off x="4924425" y="949841"/>
            <a:ext cx="1383969" cy="369332"/>
          </a:xfrm>
          <a:prstGeom prst="rect">
            <a:avLst/>
          </a:prstGeom>
          <a:noFill/>
        </p:spPr>
        <p:txBody>
          <a:bodyPr wrap="none" rtlCol="0">
            <a:spAutoFit/>
          </a:bodyPr>
          <a:lstStyle/>
          <a:p>
            <a:r>
              <a:rPr lang="en-US" dirty="0"/>
              <a:t>No Blockers</a:t>
            </a:r>
          </a:p>
        </p:txBody>
      </p:sp>
    </p:spTree>
    <p:extLst>
      <p:ext uri="{BB962C8B-B14F-4D97-AF65-F5344CB8AC3E}">
        <p14:creationId xmlns:p14="http://schemas.microsoft.com/office/powerpoint/2010/main" val="2271773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1622</Words>
  <Application>Microsoft Office PowerPoint</Application>
  <PresentationFormat>Widescreen</PresentationFormat>
  <Paragraphs>187</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Playfair Display Medium</vt:lpstr>
      <vt:lpstr>Times New Roman</vt:lpstr>
      <vt:lpstr>Office Theme</vt:lpstr>
      <vt:lpstr>Truck Fleet Failure Prediction</vt:lpstr>
      <vt:lpstr>Exhaust Brake </vt:lpstr>
      <vt:lpstr>Exhaust Brake Function</vt:lpstr>
      <vt:lpstr>Field Technician’s Feedback on Good vs Bad Brake</vt:lpstr>
      <vt:lpstr>Braking Method</vt:lpstr>
      <vt:lpstr>Select the right operating condition for Braking</vt:lpstr>
      <vt:lpstr>Signals</vt:lpstr>
      <vt:lpstr>EDA</vt:lpstr>
      <vt:lpstr>PowerPoint Presentation</vt:lpstr>
      <vt:lpstr>What variable actually carries the information?</vt:lpstr>
      <vt:lpstr>Key Channel    Act_RetardPctTorqExh</vt:lpstr>
      <vt:lpstr>PowerPoint Presentation</vt:lpstr>
      <vt:lpstr>PowerPoint Presentation</vt:lpstr>
      <vt:lpstr>PowerPoint Presentation</vt:lpstr>
      <vt:lpstr>Data</vt:lpstr>
      <vt:lpstr>Unzip Zip File</vt:lpstr>
      <vt:lpstr>Folder Structure</vt:lpstr>
      <vt:lpstr>File Conversion</vt:lpstr>
      <vt:lpstr>Cdf files</vt:lpstr>
      <vt:lpstr>Create a FAST “manifest” of all files (no CDF reading)</vt:lpstr>
      <vt:lpstr>Extract Signals</vt:lpstr>
      <vt:lpstr>High-level strategy on Signals</vt:lpstr>
      <vt:lpstr>Output from the Signal Work </vt:lpstr>
      <vt:lpstr> 1st Standup</vt:lpstr>
      <vt:lpstr>Project Description</vt:lpstr>
      <vt:lpstr>What did the team do last week?</vt:lpstr>
      <vt:lpstr>Signals</vt:lpstr>
      <vt:lpstr>What issues are blocking?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Jennifer</dc:creator>
  <cp:lastModifiedBy>Guga Gugaratshan</cp:lastModifiedBy>
  <cp:revision>6</cp:revision>
  <dcterms:created xsi:type="dcterms:W3CDTF">2024-06-25T13:35:56Z</dcterms:created>
  <dcterms:modified xsi:type="dcterms:W3CDTF">2026-03-15T12:40:34Z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08be00-d674-40fd-8399-cd3587f85bc0_Enabled">
    <vt:lpwstr>true</vt:lpwstr>
  </property>
  <property fmtid="{D5CDD505-2E9C-101B-9397-08002B2CF9AE}" pid="3" name="MSIP_Label_9208be00-d674-40fd-8399-cd3587f85bc0_SetDate">
    <vt:lpwstr>2026-03-01T04:23:47Z</vt:lpwstr>
  </property>
  <property fmtid="{D5CDD505-2E9C-101B-9397-08002B2CF9AE}" pid="4" name="MSIP_Label_9208be00-d674-40fd-8399-cd3587f85bc0_Method">
    <vt:lpwstr>Privileged</vt:lpwstr>
  </property>
  <property fmtid="{D5CDD505-2E9C-101B-9397-08002B2CF9AE}" pid="5" name="MSIP_Label_9208be00-d674-40fd-8399-cd3587f85bc0_Name">
    <vt:lpwstr>Unrestricted</vt:lpwstr>
  </property>
  <property fmtid="{D5CDD505-2E9C-101B-9397-08002B2CF9AE}" pid="6" name="MSIP_Label_9208be00-d674-40fd-8399-cd3587f85bc0_SiteId">
    <vt:lpwstr>6cce74a3-3975-45e0-9893-b072988b30b6</vt:lpwstr>
  </property>
  <property fmtid="{D5CDD505-2E9C-101B-9397-08002B2CF9AE}" pid="7" name="MSIP_Label_9208be00-d674-40fd-8399-cd3587f85bc0_ActionId">
    <vt:lpwstr>579e66b7-6c7c-42ec-8dba-0759385a8163</vt:lpwstr>
  </property>
  <property fmtid="{D5CDD505-2E9C-101B-9397-08002B2CF9AE}" pid="8" name="MSIP_Label_9208be00-d674-40fd-8399-cd3587f85bc0_ContentBits">
    <vt:lpwstr>2</vt:lpwstr>
  </property>
  <property fmtid="{D5CDD505-2E9C-101B-9397-08002B2CF9AE}" pid="9" name="MSIP_Label_9208be00-d674-40fd-8399-cd3587f85bc0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UNRESTRICTED</vt:lpwstr>
  </property>
</Properties>
</file>